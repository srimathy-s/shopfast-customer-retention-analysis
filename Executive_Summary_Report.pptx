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4617700" cy="7804150"/>
  <p:notesSz cx="14617700" cy="78041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6803" y="2419286"/>
            <a:ext cx="12430443" cy="16388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2D3B4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3607" y="4370324"/>
            <a:ext cx="10236835" cy="1951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2D3B4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2D3B4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86103" y="2569521"/>
            <a:ext cx="5857240" cy="415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>
                <a:solidFill>
                  <a:srgbClr val="384652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1385" y="1794954"/>
            <a:ext cx="6361462" cy="5150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2D3B4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2" y="7749538"/>
            <a:ext cx="1722627" cy="4888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9863" y="378079"/>
            <a:ext cx="7141743" cy="932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2D3B4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202" y="1794954"/>
            <a:ext cx="13161645" cy="5150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2177" y="7257859"/>
            <a:ext cx="4679696" cy="3902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202" y="7257859"/>
            <a:ext cx="3363531" cy="3902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29316" y="7257859"/>
            <a:ext cx="3363531" cy="3902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9680" y="-1"/>
            <a:ext cx="5754370" cy="77984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1783" y="2683205"/>
            <a:ext cx="7520305" cy="141668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699385" marR="5080" indent="-2687320">
              <a:lnSpc>
                <a:spcPts val="5610"/>
              </a:lnSpc>
            </a:pPr>
            <a:r>
              <a:rPr dirty="0" spc="-250"/>
              <a:t>ShopFast</a:t>
            </a:r>
            <a:r>
              <a:rPr dirty="0" spc="-415"/>
              <a:t> </a:t>
            </a:r>
            <a:r>
              <a:rPr dirty="0" spc="-295"/>
              <a:t>Customer</a:t>
            </a:r>
            <a:r>
              <a:rPr dirty="0" spc="-430"/>
              <a:t> </a:t>
            </a:r>
            <a:r>
              <a:rPr dirty="0" spc="-325"/>
              <a:t>Retention </a:t>
            </a:r>
            <a:r>
              <a:rPr dirty="0" spc="-100"/>
              <a:t>Analysis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459227" y="4802200"/>
            <a:ext cx="41236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384652"/>
                </a:solidFill>
                <a:latin typeface="Verdana"/>
                <a:cs typeface="Verdana"/>
              </a:rPr>
              <a:t>Executive</a:t>
            </a:r>
            <a:r>
              <a:rPr dirty="0" sz="3200" spc="-30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3200" spc="-10">
                <a:solidFill>
                  <a:srgbClr val="384652"/>
                </a:solidFill>
                <a:latin typeface="Verdana"/>
                <a:cs typeface="Verdana"/>
              </a:rPr>
              <a:t>Summary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40095" y="6560057"/>
            <a:ext cx="225933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384652"/>
                </a:solidFill>
                <a:latin typeface="Verdana"/>
                <a:cs typeface="Verdana"/>
              </a:rPr>
              <a:t>By</a:t>
            </a:r>
            <a:r>
              <a:rPr dirty="0" sz="1800" spc="-14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384652"/>
                </a:solidFill>
                <a:latin typeface="Verdana"/>
                <a:cs typeface="Verdana"/>
              </a:rPr>
              <a:t>Srimathy,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solidFill>
                  <a:srgbClr val="384652"/>
                </a:solidFill>
                <a:latin typeface="Verdana"/>
                <a:cs typeface="Verdana"/>
              </a:rPr>
              <a:t>Junior</a:t>
            </a:r>
            <a:r>
              <a:rPr dirty="0" sz="1800" spc="-2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384652"/>
                </a:solidFill>
                <a:latin typeface="Verdana"/>
                <a:cs typeface="Verdana"/>
              </a:rPr>
              <a:t>Data</a:t>
            </a:r>
            <a:r>
              <a:rPr dirty="0" sz="1800" spc="-2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384652"/>
                </a:solidFill>
                <a:latin typeface="Verdana"/>
                <a:cs typeface="Verdana"/>
              </a:rPr>
              <a:t>Analyst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0"/>
            <a:ext cx="14624050" cy="7798434"/>
            <a:chOff x="0" y="0"/>
            <a:chExt cx="14624050" cy="7798434"/>
          </a:xfrm>
        </p:grpSpPr>
        <p:sp>
          <p:nvSpPr>
            <p:cNvPr id="7" name="object 7" descr=""/>
            <p:cNvSpPr/>
            <p:nvPr/>
          </p:nvSpPr>
          <p:spPr>
            <a:xfrm>
              <a:off x="2670682" y="4383278"/>
              <a:ext cx="3773804" cy="0"/>
            </a:xfrm>
            <a:custGeom>
              <a:avLst/>
              <a:gdLst/>
              <a:ahLst/>
              <a:cxnLst/>
              <a:rect l="l" t="t" r="r" b="b"/>
              <a:pathLst>
                <a:path w="3773804" h="0">
                  <a:moveTo>
                    <a:pt x="0" y="0"/>
                  </a:moveTo>
                  <a:lnTo>
                    <a:pt x="3773678" y="0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50" y="6350"/>
              <a:ext cx="14611350" cy="7785734"/>
            </a:xfrm>
            <a:custGeom>
              <a:avLst/>
              <a:gdLst/>
              <a:ahLst/>
              <a:cxnLst/>
              <a:rect l="l" t="t" r="r" b="b"/>
              <a:pathLst>
                <a:path w="14611350" h="7785734">
                  <a:moveTo>
                    <a:pt x="14611350" y="0"/>
                  </a:moveTo>
                  <a:lnTo>
                    <a:pt x="0" y="0"/>
                  </a:lnTo>
                  <a:lnTo>
                    <a:pt x="0" y="7785722"/>
                  </a:lnTo>
                  <a:lnTo>
                    <a:pt x="14611350" y="7785722"/>
                  </a:lnTo>
                  <a:lnTo>
                    <a:pt x="1461135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350" y="6350"/>
              <a:ext cx="14611350" cy="7785734"/>
            </a:xfrm>
            <a:custGeom>
              <a:avLst/>
              <a:gdLst/>
              <a:ahLst/>
              <a:cxnLst/>
              <a:rect l="l" t="t" r="r" b="b"/>
              <a:pathLst>
                <a:path w="14611350" h="7785734">
                  <a:moveTo>
                    <a:pt x="0" y="7785722"/>
                  </a:moveTo>
                  <a:lnTo>
                    <a:pt x="14611350" y="7785722"/>
                  </a:lnTo>
                  <a:lnTo>
                    <a:pt x="14611350" y="0"/>
                  </a:lnTo>
                  <a:lnTo>
                    <a:pt x="0" y="0"/>
                  </a:lnTo>
                  <a:lnTo>
                    <a:pt x="0" y="7785722"/>
                  </a:lnTo>
                  <a:close/>
                </a:path>
              </a:pathLst>
            </a:custGeom>
            <a:ln w="12700">
              <a:solidFill>
                <a:srgbClr val="00A5E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65"/>
              <a:t>Customer</a:t>
            </a:r>
            <a:r>
              <a:rPr dirty="0" sz="4000" spc="-320"/>
              <a:t> </a:t>
            </a:r>
            <a:r>
              <a:rPr dirty="0" sz="4000" spc="-295"/>
              <a:t>Retention</a:t>
            </a:r>
            <a:r>
              <a:rPr dirty="0" sz="4000" spc="-345"/>
              <a:t> </a:t>
            </a:r>
            <a:r>
              <a:rPr dirty="0" sz="4000" spc="-315"/>
              <a:t>Overview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1122984" y="1548765"/>
            <a:ext cx="5779135" cy="3206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00"/>
              </a:spcBef>
            </a:pPr>
            <a:r>
              <a:rPr dirty="0" sz="2400" spc="-200" b="1">
                <a:solidFill>
                  <a:srgbClr val="2D3B4E"/>
                </a:solidFill>
                <a:latin typeface="Tahoma"/>
                <a:cs typeface="Tahoma"/>
              </a:rPr>
              <a:t>Key</a:t>
            </a:r>
            <a:r>
              <a:rPr dirty="0" sz="2400" spc="-204" b="1">
                <a:solidFill>
                  <a:srgbClr val="2D3B4E"/>
                </a:solidFill>
                <a:latin typeface="Tahoma"/>
                <a:cs typeface="Tahoma"/>
              </a:rPr>
              <a:t> </a:t>
            </a:r>
            <a:r>
              <a:rPr dirty="0" sz="2400" spc="-20" b="1">
                <a:solidFill>
                  <a:srgbClr val="2D3B4E"/>
                </a:solidFill>
                <a:latin typeface="Tahoma"/>
                <a:cs typeface="Tahoma"/>
              </a:rPr>
              <a:t>Finding</a:t>
            </a:r>
            <a:endParaRPr sz="2400">
              <a:latin typeface="Tahoma"/>
              <a:cs typeface="Tahoma"/>
            </a:endParaRPr>
          </a:p>
          <a:p>
            <a:pPr algn="just" marL="357505" marR="5080">
              <a:lnSpc>
                <a:spcPct val="150000"/>
              </a:lnSpc>
              <a:spcBef>
                <a:spcPts val="965"/>
              </a:spcBef>
            </a:pP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Monthly</a:t>
            </a:r>
            <a:r>
              <a:rPr dirty="0" sz="2000" spc="-7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Active</a:t>
            </a:r>
            <a:r>
              <a:rPr dirty="0" sz="200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Users</a:t>
            </a:r>
            <a:r>
              <a:rPr dirty="0" sz="200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384652"/>
                </a:solidFill>
                <a:latin typeface="Verdana"/>
                <a:cs typeface="Verdana"/>
              </a:rPr>
              <a:t>(MAU)</a:t>
            </a:r>
            <a:r>
              <a:rPr dirty="0" sz="200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have</a:t>
            </a:r>
            <a:r>
              <a:rPr dirty="0" sz="2000" spc="-9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 spc="50">
                <a:solidFill>
                  <a:srgbClr val="384652"/>
                </a:solidFill>
                <a:latin typeface="Verdana"/>
                <a:cs typeface="Verdana"/>
              </a:rPr>
              <a:t>shown</a:t>
            </a:r>
            <a:r>
              <a:rPr dirty="0" sz="2000" spc="-8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384652"/>
                </a:solidFill>
                <a:latin typeface="Verdana"/>
                <a:cs typeface="Verdana"/>
              </a:rPr>
              <a:t>a </a:t>
            </a:r>
            <a:r>
              <a:rPr dirty="0" sz="2000" spc="-10">
                <a:solidFill>
                  <a:srgbClr val="384652"/>
                </a:solidFill>
                <a:latin typeface="Verdana"/>
                <a:cs typeface="Verdana"/>
              </a:rPr>
              <a:t>clear</a:t>
            </a:r>
            <a:r>
              <a:rPr dirty="0" sz="2000" spc="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decline</a:t>
            </a:r>
            <a:r>
              <a:rPr dirty="0" sz="2000" spc="1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following</a:t>
            </a:r>
            <a:r>
              <a:rPr dirty="0" sz="2000" spc="-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the</a:t>
            </a:r>
            <a:r>
              <a:rPr dirty="0" sz="2000" spc="1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mid-</a:t>
            </a:r>
            <a:r>
              <a:rPr dirty="0" sz="2000" spc="-75">
                <a:solidFill>
                  <a:srgbClr val="384652"/>
                </a:solidFill>
                <a:latin typeface="Verdana"/>
                <a:cs typeface="Verdana"/>
              </a:rPr>
              <a:t>2024</a:t>
            </a:r>
            <a:r>
              <a:rPr dirty="0" sz="2000" spc="1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84652"/>
                </a:solidFill>
                <a:latin typeface="Verdana"/>
                <a:cs typeface="Verdana"/>
              </a:rPr>
              <a:t>peak.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After</a:t>
            </a:r>
            <a:r>
              <a:rPr dirty="0" sz="2000" spc="275">
                <a:solidFill>
                  <a:srgbClr val="384652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January</a:t>
            </a:r>
            <a:r>
              <a:rPr dirty="0" sz="2000" spc="285">
                <a:solidFill>
                  <a:srgbClr val="384652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2025,</a:t>
            </a:r>
            <a:r>
              <a:rPr dirty="0" sz="2000" spc="270">
                <a:solidFill>
                  <a:srgbClr val="384652"/>
                </a:solidFill>
                <a:latin typeface="Verdana"/>
                <a:cs typeface="Verdana"/>
              </a:rPr>
              <a:t> 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activity</a:t>
            </a:r>
            <a:r>
              <a:rPr dirty="0" sz="2000" spc="280">
                <a:solidFill>
                  <a:srgbClr val="384652"/>
                </a:solidFill>
                <a:latin typeface="Verdana"/>
                <a:cs typeface="Verdana"/>
              </a:rPr>
              <a:t>  </a:t>
            </a:r>
            <a:r>
              <a:rPr dirty="0" sz="2000" spc="40">
                <a:solidFill>
                  <a:srgbClr val="384652"/>
                </a:solidFill>
                <a:latin typeface="Verdana"/>
                <a:cs typeface="Verdana"/>
              </a:rPr>
              <a:t>dropped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noticeably</a:t>
            </a:r>
            <a:r>
              <a:rPr dirty="0" sz="2000" spc="-5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and</a:t>
            </a:r>
            <a:r>
              <a:rPr dirty="0" sz="2000" spc="-6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has</a:t>
            </a:r>
            <a:r>
              <a:rPr dirty="0" sz="2000" spc="-4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reached</a:t>
            </a:r>
            <a:r>
              <a:rPr dirty="0" sz="2000" spc="-6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recent</a:t>
            </a:r>
            <a:r>
              <a:rPr dirty="0" sz="2000" spc="-4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84652"/>
                </a:solidFill>
                <a:latin typeface="Verdana"/>
                <a:cs typeface="Verdana"/>
              </a:rPr>
              <a:t>lows.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120" b="1">
                <a:solidFill>
                  <a:srgbClr val="2D3B4E"/>
                </a:solidFill>
                <a:latin typeface="Tahoma"/>
                <a:cs typeface="Tahoma"/>
              </a:rPr>
              <a:t>Critical</a:t>
            </a:r>
            <a:r>
              <a:rPr dirty="0" sz="2400" spc="-170" b="1">
                <a:solidFill>
                  <a:srgbClr val="2D3B4E"/>
                </a:solidFill>
                <a:latin typeface="Tahoma"/>
                <a:cs typeface="Tahoma"/>
              </a:rPr>
              <a:t> </a:t>
            </a:r>
            <a:r>
              <a:rPr dirty="0" sz="2400" spc="-75" b="1">
                <a:solidFill>
                  <a:srgbClr val="2D3B4E"/>
                </a:solidFill>
                <a:latin typeface="Tahoma"/>
                <a:cs typeface="Tahoma"/>
              </a:rPr>
              <a:t>Insight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13379" y="5126227"/>
            <a:ext cx="39598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6110" algn="l"/>
                <a:tab pos="3180715" algn="l"/>
              </a:tabLst>
            </a:pPr>
            <a:r>
              <a:rPr dirty="0" sz="2000" spc="50">
                <a:solidFill>
                  <a:srgbClr val="384652"/>
                </a:solidFill>
                <a:latin typeface="Verdana"/>
                <a:cs typeface="Verdana"/>
              </a:rPr>
              <a:t>engagement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384652"/>
                </a:solidFill>
                <a:latin typeface="Verdana"/>
                <a:cs typeface="Verdana"/>
              </a:rPr>
              <a:t>patterns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	</a:t>
            </a:r>
            <a:r>
              <a:rPr dirty="0" sz="2000" spc="-20">
                <a:solidFill>
                  <a:srgbClr val="384652"/>
                </a:solidFill>
                <a:latin typeface="Verdana"/>
                <a:cs typeface="Verdana"/>
              </a:rPr>
              <a:t>reveal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40941" y="4974437"/>
            <a:ext cx="144526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10">
                <a:solidFill>
                  <a:srgbClr val="384652"/>
                </a:solidFill>
                <a:latin typeface="Verdana"/>
                <a:cs typeface="Verdana"/>
              </a:rPr>
              <a:t>Customer weakening signaling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92627" y="5431637"/>
            <a:ext cx="3881754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88595">
              <a:lnSpc>
                <a:spcPct val="150000"/>
              </a:lnSpc>
              <a:spcBef>
                <a:spcPts val="100"/>
              </a:spcBef>
              <a:tabLst>
                <a:tab pos="1355090" algn="l"/>
                <a:tab pos="1580515" algn="l"/>
                <a:tab pos="2901950" algn="l"/>
                <a:tab pos="3339465" algn="l"/>
              </a:tabLst>
            </a:pPr>
            <a:r>
              <a:rPr dirty="0" sz="2000" spc="-10">
                <a:solidFill>
                  <a:srgbClr val="384652"/>
                </a:solidFill>
                <a:latin typeface="Verdana"/>
                <a:cs typeface="Verdana"/>
              </a:rPr>
              <a:t>repeat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	</a:t>
            </a:r>
            <a:r>
              <a:rPr dirty="0" sz="2000" spc="-10">
                <a:solidFill>
                  <a:srgbClr val="384652"/>
                </a:solidFill>
                <a:latin typeface="Verdana"/>
                <a:cs typeface="Verdana"/>
              </a:rPr>
              <a:t>customer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	</a:t>
            </a:r>
            <a:r>
              <a:rPr dirty="0" sz="2000" spc="-55">
                <a:solidFill>
                  <a:srgbClr val="384652"/>
                </a:solidFill>
                <a:latin typeface="Verdana"/>
                <a:cs typeface="Verdana"/>
              </a:rPr>
              <a:t>activity, </a:t>
            </a:r>
            <a:r>
              <a:rPr dirty="0" sz="2000" spc="-10">
                <a:solidFill>
                  <a:srgbClr val="384652"/>
                </a:solidFill>
                <a:latin typeface="Verdana"/>
                <a:cs typeface="Verdana"/>
              </a:rPr>
              <a:t>retention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		</a:t>
            </a:r>
            <a:r>
              <a:rPr dirty="0" sz="2000" spc="-10">
                <a:solidFill>
                  <a:srgbClr val="384652"/>
                </a:solidFill>
                <a:latin typeface="Verdana"/>
                <a:cs typeface="Verdana"/>
              </a:rPr>
              <a:t>challenges</a:t>
            </a: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	</a:t>
            </a:r>
            <a:r>
              <a:rPr dirty="0" sz="2000" spc="-20">
                <a:solidFill>
                  <a:srgbClr val="384652"/>
                </a:solidFill>
                <a:latin typeface="Verdana"/>
                <a:cs typeface="Verdana"/>
              </a:rPr>
              <a:t>that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40941" y="6498082"/>
            <a:ext cx="37312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384652"/>
                </a:solidFill>
                <a:latin typeface="Verdana"/>
                <a:cs typeface="Verdana"/>
              </a:rPr>
              <a:t>require</a:t>
            </a:r>
            <a:r>
              <a:rPr dirty="0" sz="2000" spc="-14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 spc="50">
                <a:solidFill>
                  <a:srgbClr val="384652"/>
                </a:solidFill>
                <a:latin typeface="Verdana"/>
                <a:cs typeface="Verdana"/>
              </a:rPr>
              <a:t>immediate</a:t>
            </a:r>
            <a:r>
              <a:rPr dirty="0" sz="2000" spc="-15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384652"/>
                </a:solidFill>
                <a:latin typeface="Verdana"/>
                <a:cs typeface="Verdana"/>
              </a:rPr>
              <a:t>attention.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0"/>
            <a:ext cx="14624050" cy="7798434"/>
            <a:chOff x="0" y="0"/>
            <a:chExt cx="14624050" cy="7798434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5844" y="1186823"/>
              <a:ext cx="6565511" cy="5270988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7315200" y="1637157"/>
              <a:ext cx="0" cy="4878705"/>
            </a:xfrm>
            <a:custGeom>
              <a:avLst/>
              <a:gdLst/>
              <a:ahLst/>
              <a:cxnLst/>
              <a:rect l="l" t="t" r="r" b="b"/>
              <a:pathLst>
                <a:path w="0" h="4878705">
                  <a:moveTo>
                    <a:pt x="0" y="0"/>
                  </a:moveTo>
                  <a:lnTo>
                    <a:pt x="0" y="4878451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350" y="6350"/>
              <a:ext cx="14611350" cy="7785734"/>
            </a:xfrm>
            <a:custGeom>
              <a:avLst/>
              <a:gdLst/>
              <a:ahLst/>
              <a:cxnLst/>
              <a:rect l="l" t="t" r="r" b="b"/>
              <a:pathLst>
                <a:path w="14611350" h="7785734">
                  <a:moveTo>
                    <a:pt x="14611350" y="0"/>
                  </a:moveTo>
                  <a:lnTo>
                    <a:pt x="0" y="0"/>
                  </a:lnTo>
                  <a:lnTo>
                    <a:pt x="0" y="7785709"/>
                  </a:lnTo>
                  <a:lnTo>
                    <a:pt x="14611350" y="7785709"/>
                  </a:lnTo>
                  <a:lnTo>
                    <a:pt x="1461135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350" y="6350"/>
              <a:ext cx="14611350" cy="7785734"/>
            </a:xfrm>
            <a:custGeom>
              <a:avLst/>
              <a:gdLst/>
              <a:ahLst/>
              <a:cxnLst/>
              <a:rect l="l" t="t" r="r" b="b"/>
              <a:pathLst>
                <a:path w="14611350" h="7785734">
                  <a:moveTo>
                    <a:pt x="0" y="7785709"/>
                  </a:moveTo>
                  <a:lnTo>
                    <a:pt x="14611350" y="7785709"/>
                  </a:lnTo>
                  <a:lnTo>
                    <a:pt x="14611350" y="0"/>
                  </a:lnTo>
                  <a:lnTo>
                    <a:pt x="0" y="0"/>
                  </a:lnTo>
                  <a:lnTo>
                    <a:pt x="0" y="7785709"/>
                  </a:lnTo>
                  <a:close/>
                </a:path>
              </a:pathLst>
            </a:custGeom>
            <a:ln w="12700">
              <a:solidFill>
                <a:srgbClr val="00A5E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646419" cy="77984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89421" y="160146"/>
            <a:ext cx="57029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45"/>
              <a:t>Customer</a:t>
            </a:r>
            <a:r>
              <a:rPr dirty="0" sz="3600" spc="-300"/>
              <a:t> </a:t>
            </a:r>
            <a:r>
              <a:rPr dirty="0" sz="3600" spc="-245"/>
              <a:t>Behavior</a:t>
            </a:r>
            <a:r>
              <a:rPr dirty="0" sz="3600" spc="-260"/>
              <a:t> </a:t>
            </a:r>
            <a:r>
              <a:rPr dirty="0" sz="3600" spc="-155"/>
              <a:t>Analysis</a:t>
            </a:r>
            <a:endParaRPr sz="3600"/>
          </a:p>
        </p:txBody>
      </p:sp>
      <p:sp>
        <p:nvSpPr>
          <p:cNvPr id="4" name="object 4" descr=""/>
          <p:cNvSpPr txBox="1"/>
          <p:nvPr/>
        </p:nvSpPr>
        <p:spPr>
          <a:xfrm>
            <a:off x="7763002" y="969086"/>
            <a:ext cx="87312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770" b="1">
                <a:solidFill>
                  <a:srgbClr val="384652"/>
                </a:solidFill>
                <a:latin typeface="Tahoma"/>
                <a:cs typeface="Tahoma"/>
              </a:rPr>
              <a:t>97%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471030" y="1573942"/>
            <a:ext cx="3458210" cy="57086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dirty="0" sz="1400" spc="-105" b="1">
                <a:solidFill>
                  <a:srgbClr val="384652"/>
                </a:solidFill>
                <a:latin typeface="Tahoma"/>
                <a:cs typeface="Tahoma"/>
              </a:rPr>
              <a:t>Repeat</a:t>
            </a:r>
            <a:r>
              <a:rPr dirty="0" sz="1400" spc="-95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1400" spc="-100" b="1">
                <a:solidFill>
                  <a:srgbClr val="384652"/>
                </a:solidFill>
                <a:latin typeface="Tahoma"/>
                <a:cs typeface="Tahoma"/>
              </a:rPr>
              <a:t>Customer</a:t>
            </a:r>
            <a:r>
              <a:rPr dirty="0" sz="1400" spc="-110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384652"/>
                </a:solidFill>
                <a:latin typeface="Tahoma"/>
                <a:cs typeface="Tahoma"/>
              </a:rPr>
              <a:t>Orders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dirty="0" sz="1050" spc="-10">
                <a:solidFill>
                  <a:srgbClr val="384652"/>
                </a:solidFill>
                <a:latin typeface="Verdana"/>
                <a:cs typeface="Verdana"/>
              </a:rPr>
              <a:t>Over</a:t>
            </a:r>
            <a:r>
              <a:rPr dirty="0" sz="1050" spc="-7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 spc="-114">
                <a:solidFill>
                  <a:srgbClr val="384652"/>
                </a:solidFill>
                <a:latin typeface="Verdana"/>
                <a:cs typeface="Verdana"/>
              </a:rPr>
              <a:t>97%</a:t>
            </a:r>
            <a:r>
              <a:rPr dirty="0" sz="1050" spc="-7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384652"/>
                </a:solidFill>
                <a:latin typeface="Verdana"/>
                <a:cs typeface="Verdana"/>
              </a:rPr>
              <a:t>of</a:t>
            </a:r>
            <a:r>
              <a:rPr dirty="0" sz="1050" spc="-4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384652"/>
                </a:solidFill>
                <a:latin typeface="Verdana"/>
                <a:cs typeface="Verdana"/>
              </a:rPr>
              <a:t>all</a:t>
            </a:r>
            <a:r>
              <a:rPr dirty="0" sz="1050" spc="-6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384652"/>
                </a:solidFill>
                <a:latin typeface="Verdana"/>
                <a:cs typeface="Verdana"/>
              </a:rPr>
              <a:t>orders</a:t>
            </a:r>
            <a:r>
              <a:rPr dirty="0" sz="1050" spc="-3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384652"/>
                </a:solidFill>
                <a:latin typeface="Verdana"/>
                <a:cs typeface="Verdana"/>
              </a:rPr>
              <a:t>come</a:t>
            </a:r>
            <a:r>
              <a:rPr dirty="0" sz="105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384652"/>
                </a:solidFill>
                <a:latin typeface="Verdana"/>
                <a:cs typeface="Verdana"/>
              </a:rPr>
              <a:t>from</a:t>
            </a:r>
            <a:r>
              <a:rPr dirty="0" sz="105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384652"/>
                </a:solidFill>
                <a:latin typeface="Verdana"/>
                <a:cs typeface="Verdana"/>
              </a:rPr>
              <a:t>repeat</a:t>
            </a:r>
            <a:r>
              <a:rPr dirty="0" sz="1050" spc="-6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384652"/>
                </a:solidFill>
                <a:latin typeface="Verdana"/>
                <a:cs typeface="Verdana"/>
              </a:rPr>
              <a:t>customers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751056" y="969086"/>
            <a:ext cx="66103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670" b="1">
                <a:solidFill>
                  <a:srgbClr val="384652"/>
                </a:solidFill>
                <a:latin typeface="Tahoma"/>
                <a:cs typeface="Tahoma"/>
              </a:rPr>
              <a:t>175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00333" y="1573942"/>
            <a:ext cx="2562225" cy="57086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65"/>
              </a:spcBef>
            </a:pPr>
            <a:r>
              <a:rPr dirty="0" sz="1400" spc="-105" b="1">
                <a:solidFill>
                  <a:srgbClr val="384652"/>
                </a:solidFill>
                <a:latin typeface="Tahoma"/>
                <a:cs typeface="Tahoma"/>
              </a:rPr>
              <a:t>Repeat</a:t>
            </a:r>
            <a:r>
              <a:rPr dirty="0" sz="1400" spc="-100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384652"/>
                </a:solidFill>
                <a:latin typeface="Tahoma"/>
                <a:cs typeface="Tahoma"/>
              </a:rPr>
              <a:t>Buyers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dirty="0" sz="1050">
                <a:solidFill>
                  <a:srgbClr val="384652"/>
                </a:solidFill>
                <a:latin typeface="Verdana"/>
                <a:cs typeface="Verdana"/>
              </a:rPr>
              <a:t>Strong</a:t>
            </a:r>
            <a:r>
              <a:rPr dirty="0" sz="1050" spc="-7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384652"/>
                </a:solidFill>
                <a:latin typeface="Verdana"/>
                <a:cs typeface="Verdana"/>
              </a:rPr>
              <a:t>base</a:t>
            </a:r>
            <a:r>
              <a:rPr dirty="0" sz="1050" spc="-8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384652"/>
                </a:solidFill>
                <a:latin typeface="Verdana"/>
                <a:cs typeface="Verdana"/>
              </a:rPr>
              <a:t>of</a:t>
            </a:r>
            <a:r>
              <a:rPr dirty="0" sz="1050" spc="-8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384652"/>
                </a:solidFill>
                <a:latin typeface="Verdana"/>
                <a:cs typeface="Verdana"/>
              </a:rPr>
              <a:t>loyal</a:t>
            </a:r>
            <a:r>
              <a:rPr dirty="0" sz="105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384652"/>
                </a:solidFill>
                <a:latin typeface="Verdana"/>
                <a:cs typeface="Verdana"/>
              </a:rPr>
              <a:t>repeat</a:t>
            </a:r>
            <a:r>
              <a:rPr dirty="0" sz="1050" spc="-6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384652"/>
                </a:solidFill>
                <a:latin typeface="Verdana"/>
                <a:cs typeface="Verdana"/>
              </a:rPr>
              <a:t>customers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860281" y="2272410"/>
            <a:ext cx="2670175" cy="958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02870">
              <a:lnSpc>
                <a:spcPts val="4160"/>
              </a:lnSpc>
              <a:spcBef>
                <a:spcPts val="100"/>
              </a:spcBef>
            </a:pPr>
            <a:r>
              <a:rPr dirty="0" sz="3600" spc="-420" b="1">
                <a:solidFill>
                  <a:srgbClr val="384652"/>
                </a:solidFill>
                <a:latin typeface="Tahoma"/>
                <a:cs typeface="Tahoma"/>
              </a:rPr>
              <a:t>5</a:t>
            </a:r>
            <a:endParaRPr sz="3600">
              <a:latin typeface="Tahoma"/>
              <a:cs typeface="Tahoma"/>
            </a:endParaRPr>
          </a:p>
          <a:p>
            <a:pPr algn="ctr" marR="102235">
              <a:lnSpc>
                <a:spcPts val="1520"/>
              </a:lnSpc>
            </a:pPr>
            <a:r>
              <a:rPr dirty="0" sz="1400" spc="-114" b="1">
                <a:solidFill>
                  <a:srgbClr val="384652"/>
                </a:solidFill>
                <a:latin typeface="Tahoma"/>
                <a:cs typeface="Tahoma"/>
              </a:rPr>
              <a:t>One-</a:t>
            </a:r>
            <a:r>
              <a:rPr dirty="0" sz="1400" spc="-100" b="1">
                <a:solidFill>
                  <a:srgbClr val="384652"/>
                </a:solidFill>
                <a:latin typeface="Tahoma"/>
                <a:cs typeface="Tahoma"/>
              </a:rPr>
              <a:t>Time </a:t>
            </a:r>
            <a:r>
              <a:rPr dirty="0" sz="1400" spc="-10" b="1">
                <a:solidFill>
                  <a:srgbClr val="384652"/>
                </a:solidFill>
                <a:latin typeface="Tahoma"/>
                <a:cs typeface="Tahoma"/>
              </a:rPr>
              <a:t>Customers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050" spc="-25">
                <a:solidFill>
                  <a:srgbClr val="384652"/>
                </a:solidFill>
                <a:latin typeface="Verdana"/>
                <a:cs typeface="Verdana"/>
              </a:rPr>
              <a:t>Very</a:t>
            </a:r>
            <a:r>
              <a:rPr dirty="0" sz="1050" spc="3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384652"/>
                </a:solidFill>
                <a:latin typeface="Verdana"/>
                <a:cs typeface="Verdana"/>
              </a:rPr>
              <a:t>few</a:t>
            </a:r>
            <a:r>
              <a:rPr dirty="0" sz="1050" spc="-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384652"/>
                </a:solidFill>
                <a:latin typeface="Verdana"/>
                <a:cs typeface="Verdana"/>
              </a:rPr>
              <a:t>new</a:t>
            </a:r>
            <a:r>
              <a:rPr dirty="0" sz="1050" spc="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384652"/>
                </a:solidFill>
                <a:latin typeface="Verdana"/>
                <a:cs typeface="Verdana"/>
              </a:rPr>
              <a:t>customers</a:t>
            </a:r>
            <a:r>
              <a:rPr dirty="0" sz="1050" spc="-2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384652"/>
                </a:solidFill>
                <a:latin typeface="Verdana"/>
                <a:cs typeface="Verdana"/>
              </a:rPr>
              <a:t>placing</a:t>
            </a:r>
            <a:r>
              <a:rPr dirty="0" sz="1050" spc="-3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384652"/>
                </a:solidFill>
                <a:latin typeface="Verdana"/>
                <a:cs typeface="Verdana"/>
              </a:rPr>
              <a:t>orders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7271" y="3128136"/>
            <a:ext cx="7598664" cy="364274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2519152" y="4313300"/>
            <a:ext cx="149225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25">
                <a:solidFill>
                  <a:srgbClr val="FFFFFF"/>
                </a:solidFill>
                <a:latin typeface="Calibri"/>
                <a:cs typeface="Calibri"/>
              </a:rPr>
              <a:t>175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99146" y="5686805"/>
            <a:ext cx="67310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50">
                <a:latin typeface="Calibri"/>
                <a:cs typeface="Calibri"/>
              </a:rPr>
              <a:t>5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02502" y="6689217"/>
            <a:ext cx="2959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latin typeface="Calibri"/>
                <a:cs typeface="Calibri"/>
              </a:rPr>
              <a:t>Source: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69253" y="6978802"/>
            <a:ext cx="7828915" cy="4521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675"/>
              </a:lnSpc>
              <a:spcBef>
                <a:spcPts val="105"/>
              </a:spcBef>
            </a:pPr>
            <a:r>
              <a:rPr dirty="0" sz="1400" spc="-50" b="1">
                <a:solidFill>
                  <a:srgbClr val="384652"/>
                </a:solidFill>
                <a:latin typeface="Verdana"/>
                <a:cs typeface="Verdana"/>
              </a:rPr>
              <a:t>Critical</a:t>
            </a:r>
            <a:r>
              <a:rPr dirty="0" sz="1400" spc="-40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 spc="-70" b="1">
                <a:solidFill>
                  <a:srgbClr val="384652"/>
                </a:solidFill>
                <a:latin typeface="Verdana"/>
                <a:cs typeface="Verdana"/>
              </a:rPr>
              <a:t>Insight:</a:t>
            </a:r>
            <a:r>
              <a:rPr dirty="0" sz="1400" spc="290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384652"/>
                </a:solidFill>
                <a:latin typeface="Verdana"/>
                <a:cs typeface="Verdana"/>
              </a:rPr>
              <a:t>ShopFast</a:t>
            </a:r>
            <a:r>
              <a:rPr dirty="0" sz="1400" spc="-10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384652"/>
                </a:solidFill>
                <a:latin typeface="Verdana"/>
                <a:cs typeface="Verdana"/>
              </a:rPr>
              <a:t>has</a:t>
            </a:r>
            <a:r>
              <a:rPr dirty="0" sz="1400" spc="-10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384652"/>
                </a:solidFill>
                <a:latin typeface="Verdana"/>
                <a:cs typeface="Verdana"/>
              </a:rPr>
              <a:t>built</a:t>
            </a:r>
            <a:r>
              <a:rPr dirty="0" sz="1400" spc="-1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384652"/>
                </a:solidFill>
                <a:latin typeface="Verdana"/>
                <a:cs typeface="Verdana"/>
              </a:rPr>
              <a:t>a</a:t>
            </a:r>
            <a:r>
              <a:rPr dirty="0" sz="1400" spc="-10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384652"/>
                </a:solidFill>
                <a:latin typeface="Verdana"/>
                <a:cs typeface="Verdana"/>
              </a:rPr>
              <a:t>loyal</a:t>
            </a:r>
            <a:r>
              <a:rPr dirty="0" sz="1400" spc="-10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384652"/>
                </a:solidFill>
                <a:latin typeface="Verdana"/>
                <a:cs typeface="Verdana"/>
              </a:rPr>
              <a:t>customer</a:t>
            </a:r>
            <a:r>
              <a:rPr dirty="0" sz="1400" spc="-13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384652"/>
                </a:solidFill>
                <a:latin typeface="Verdana"/>
                <a:cs typeface="Verdana"/>
              </a:rPr>
              <a:t>base,</a:t>
            </a:r>
            <a:r>
              <a:rPr dirty="0" sz="1400" spc="-9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384652"/>
                </a:solidFill>
                <a:latin typeface="Verdana"/>
                <a:cs typeface="Verdana"/>
              </a:rPr>
              <a:t>but</a:t>
            </a:r>
            <a:r>
              <a:rPr dirty="0" sz="1400" spc="-12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384652"/>
                </a:solidFill>
                <a:latin typeface="Verdana"/>
                <a:cs typeface="Verdana"/>
              </a:rPr>
              <a:t>these</a:t>
            </a:r>
            <a:r>
              <a:rPr dirty="0" sz="1400" spc="-1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384652"/>
                </a:solidFill>
                <a:latin typeface="Verdana"/>
                <a:cs typeface="Verdana"/>
              </a:rPr>
              <a:t>existing</a:t>
            </a:r>
            <a:r>
              <a:rPr dirty="0" sz="1400" spc="-10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384652"/>
                </a:solidFill>
                <a:latin typeface="Verdana"/>
                <a:cs typeface="Verdana"/>
              </a:rPr>
              <a:t>customers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675"/>
              </a:lnSpc>
            </a:pPr>
            <a:r>
              <a:rPr dirty="0" sz="1400" spc="-25">
                <a:solidFill>
                  <a:srgbClr val="384652"/>
                </a:solidFill>
                <a:latin typeface="Verdana"/>
                <a:cs typeface="Verdana"/>
              </a:rPr>
              <a:t>are</a:t>
            </a:r>
            <a:r>
              <a:rPr dirty="0" sz="1400" spc="-6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384652"/>
                </a:solidFill>
                <a:latin typeface="Verdana"/>
                <a:cs typeface="Verdana"/>
              </a:rPr>
              <a:t>buying</a:t>
            </a:r>
            <a:r>
              <a:rPr dirty="0" sz="140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384652"/>
                </a:solidFill>
                <a:latin typeface="Verdana"/>
                <a:cs typeface="Verdana"/>
              </a:rPr>
              <a:t>less</a:t>
            </a:r>
            <a:r>
              <a:rPr dirty="0" sz="1400" spc="-5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384652"/>
                </a:solidFill>
                <a:latin typeface="Verdana"/>
                <a:cs typeface="Verdana"/>
              </a:rPr>
              <a:t>frequently</a:t>
            </a:r>
            <a:r>
              <a:rPr dirty="0" sz="1400" spc="-8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384652"/>
                </a:solidFill>
                <a:latin typeface="Verdana"/>
                <a:cs typeface="Verdana"/>
              </a:rPr>
              <a:t>now,</a:t>
            </a:r>
            <a:r>
              <a:rPr dirty="0" sz="1400" spc="-7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384652"/>
                </a:solidFill>
                <a:latin typeface="Verdana"/>
                <a:cs typeface="Verdana"/>
              </a:rPr>
              <a:t>driving</a:t>
            </a:r>
            <a:r>
              <a:rPr dirty="0" sz="1400" spc="-4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384652"/>
                </a:solidFill>
                <a:latin typeface="Verdana"/>
                <a:cs typeface="Verdana"/>
              </a:rPr>
              <a:t>the</a:t>
            </a:r>
            <a:r>
              <a:rPr dirty="0" sz="1400" spc="-7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384652"/>
                </a:solidFill>
                <a:latin typeface="Verdana"/>
                <a:cs typeface="Verdana"/>
              </a:rPr>
              <a:t>decline</a:t>
            </a:r>
            <a:r>
              <a:rPr dirty="0" sz="140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>
                <a:solidFill>
                  <a:srgbClr val="384652"/>
                </a:solidFill>
                <a:latin typeface="Verdana"/>
                <a:cs typeface="Verdana"/>
              </a:rPr>
              <a:t>in</a:t>
            </a:r>
            <a:r>
              <a:rPr dirty="0" sz="1400" spc="-5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384652"/>
                </a:solidFill>
                <a:latin typeface="Verdana"/>
                <a:cs typeface="Verdana"/>
              </a:rPr>
              <a:t>overall</a:t>
            </a:r>
            <a:r>
              <a:rPr dirty="0" sz="140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384652"/>
                </a:solidFill>
                <a:latin typeface="Verdana"/>
                <a:cs typeface="Verdana"/>
              </a:rPr>
              <a:t>activity.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0"/>
            <a:ext cx="14624050" cy="7798434"/>
            <a:chOff x="0" y="0"/>
            <a:chExt cx="14624050" cy="7798434"/>
          </a:xfrm>
        </p:grpSpPr>
        <p:sp>
          <p:nvSpPr>
            <p:cNvPr id="15" name="object 15" descr=""/>
            <p:cNvSpPr/>
            <p:nvPr/>
          </p:nvSpPr>
          <p:spPr>
            <a:xfrm>
              <a:off x="5766689" y="6880237"/>
              <a:ext cx="15240" cy="563245"/>
            </a:xfrm>
            <a:custGeom>
              <a:avLst/>
              <a:gdLst/>
              <a:ahLst/>
              <a:cxnLst/>
              <a:rect l="l" t="t" r="r" b="b"/>
              <a:pathLst>
                <a:path w="15239" h="563245">
                  <a:moveTo>
                    <a:pt x="15239" y="0"/>
                  </a:moveTo>
                  <a:lnTo>
                    <a:pt x="0" y="0"/>
                  </a:lnTo>
                  <a:lnTo>
                    <a:pt x="0" y="563168"/>
                  </a:lnTo>
                  <a:lnTo>
                    <a:pt x="15239" y="563168"/>
                  </a:lnTo>
                  <a:lnTo>
                    <a:pt x="15239" y="0"/>
                  </a:lnTo>
                  <a:close/>
                </a:path>
              </a:pathLst>
            </a:custGeom>
            <a:solidFill>
              <a:srgbClr val="75B9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350" y="6350"/>
              <a:ext cx="14611350" cy="7785734"/>
            </a:xfrm>
            <a:custGeom>
              <a:avLst/>
              <a:gdLst/>
              <a:ahLst/>
              <a:cxnLst/>
              <a:rect l="l" t="t" r="r" b="b"/>
              <a:pathLst>
                <a:path w="14611350" h="7785734">
                  <a:moveTo>
                    <a:pt x="14611350" y="0"/>
                  </a:moveTo>
                  <a:lnTo>
                    <a:pt x="0" y="0"/>
                  </a:lnTo>
                  <a:lnTo>
                    <a:pt x="0" y="7785709"/>
                  </a:lnTo>
                  <a:lnTo>
                    <a:pt x="14611350" y="7785709"/>
                  </a:lnTo>
                  <a:lnTo>
                    <a:pt x="1461135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350" y="6350"/>
              <a:ext cx="14611350" cy="7785734"/>
            </a:xfrm>
            <a:custGeom>
              <a:avLst/>
              <a:gdLst/>
              <a:ahLst/>
              <a:cxnLst/>
              <a:rect l="l" t="t" r="r" b="b"/>
              <a:pathLst>
                <a:path w="14611350" h="7785734">
                  <a:moveTo>
                    <a:pt x="0" y="7785709"/>
                  </a:moveTo>
                  <a:lnTo>
                    <a:pt x="14611350" y="7785709"/>
                  </a:lnTo>
                  <a:lnTo>
                    <a:pt x="14611350" y="0"/>
                  </a:lnTo>
                  <a:lnTo>
                    <a:pt x="0" y="0"/>
                  </a:lnTo>
                  <a:lnTo>
                    <a:pt x="0" y="7785709"/>
                  </a:lnTo>
                  <a:close/>
                </a:path>
              </a:pathLst>
            </a:custGeom>
            <a:ln w="12700">
              <a:solidFill>
                <a:srgbClr val="00A5E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95"/>
              </a:spcBef>
            </a:pPr>
            <a:r>
              <a:rPr dirty="0" sz="4250" spc="-345"/>
              <a:t>Revenue</a:t>
            </a:r>
            <a:r>
              <a:rPr dirty="0" sz="4250" spc="-360"/>
              <a:t> </a:t>
            </a:r>
            <a:r>
              <a:rPr dirty="0" sz="4250" spc="-325"/>
              <a:t>Insights</a:t>
            </a:r>
            <a:r>
              <a:rPr dirty="0" sz="4250" spc="-385"/>
              <a:t> </a:t>
            </a:r>
            <a:r>
              <a:rPr dirty="0" sz="4250" spc="-325"/>
              <a:t>by</a:t>
            </a:r>
            <a:r>
              <a:rPr dirty="0" sz="4250" spc="-385"/>
              <a:t> </a:t>
            </a:r>
            <a:r>
              <a:rPr dirty="0" sz="4250" spc="-285"/>
              <a:t>Category</a:t>
            </a:r>
            <a:endParaRPr sz="4250"/>
          </a:p>
        </p:txBody>
      </p:sp>
      <p:grpSp>
        <p:nvGrpSpPr>
          <p:cNvPr id="3" name="object 3" descr=""/>
          <p:cNvGrpSpPr/>
          <p:nvPr/>
        </p:nvGrpSpPr>
        <p:grpSpPr>
          <a:xfrm>
            <a:off x="1069067" y="1566672"/>
            <a:ext cx="12822555" cy="5290820"/>
            <a:chOff x="1069067" y="1566672"/>
            <a:chExt cx="12822555" cy="52908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9067" y="1656040"/>
              <a:ext cx="6847476" cy="520141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616313" y="1578102"/>
              <a:ext cx="4263390" cy="1633855"/>
            </a:xfrm>
            <a:custGeom>
              <a:avLst/>
              <a:gdLst/>
              <a:ahLst/>
              <a:cxnLst/>
              <a:rect l="l" t="t" r="r" b="b"/>
              <a:pathLst>
                <a:path w="4263390" h="1633855">
                  <a:moveTo>
                    <a:pt x="0" y="109854"/>
                  </a:moveTo>
                  <a:lnTo>
                    <a:pt x="8626" y="67079"/>
                  </a:lnTo>
                  <a:lnTo>
                    <a:pt x="32146" y="32162"/>
                  </a:lnTo>
                  <a:lnTo>
                    <a:pt x="67026" y="8628"/>
                  </a:lnTo>
                  <a:lnTo>
                    <a:pt x="109727" y="0"/>
                  </a:lnTo>
                  <a:lnTo>
                    <a:pt x="4153661" y="0"/>
                  </a:lnTo>
                  <a:lnTo>
                    <a:pt x="4196363" y="8628"/>
                  </a:lnTo>
                  <a:lnTo>
                    <a:pt x="4231243" y="32162"/>
                  </a:lnTo>
                  <a:lnTo>
                    <a:pt x="4254763" y="67079"/>
                  </a:lnTo>
                  <a:lnTo>
                    <a:pt x="4263390" y="109854"/>
                  </a:lnTo>
                  <a:lnTo>
                    <a:pt x="4263390" y="1523746"/>
                  </a:lnTo>
                  <a:lnTo>
                    <a:pt x="4254763" y="1566447"/>
                  </a:lnTo>
                  <a:lnTo>
                    <a:pt x="4231243" y="1601327"/>
                  </a:lnTo>
                  <a:lnTo>
                    <a:pt x="4196363" y="1624847"/>
                  </a:lnTo>
                  <a:lnTo>
                    <a:pt x="4153661" y="1633474"/>
                  </a:lnTo>
                  <a:lnTo>
                    <a:pt x="109727" y="1633474"/>
                  </a:lnTo>
                  <a:lnTo>
                    <a:pt x="67026" y="1624847"/>
                  </a:lnTo>
                  <a:lnTo>
                    <a:pt x="32146" y="1601327"/>
                  </a:lnTo>
                  <a:lnTo>
                    <a:pt x="8626" y="1566447"/>
                  </a:lnTo>
                  <a:lnTo>
                    <a:pt x="0" y="1523746"/>
                  </a:lnTo>
                  <a:lnTo>
                    <a:pt x="0" y="109854"/>
                  </a:lnTo>
                  <a:close/>
                </a:path>
              </a:pathLst>
            </a:custGeom>
            <a:ln w="2286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93452" y="1578102"/>
              <a:ext cx="91439" cy="1633473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9901808" y="1785365"/>
            <a:ext cx="3142615" cy="1165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384652"/>
                </a:solidFill>
                <a:latin typeface="Tahoma"/>
                <a:cs typeface="Tahoma"/>
              </a:rPr>
              <a:t>Apparel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25"/>
              </a:spcBef>
            </a:pPr>
            <a:r>
              <a:rPr dirty="0" sz="1600">
                <a:solidFill>
                  <a:srgbClr val="384652"/>
                </a:solidFill>
                <a:latin typeface="Verdana"/>
                <a:cs typeface="Verdana"/>
              </a:rPr>
              <a:t>Highest</a:t>
            </a:r>
            <a:r>
              <a:rPr dirty="0" sz="1600" spc="12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600" spc="-25">
                <a:solidFill>
                  <a:srgbClr val="384652"/>
                </a:solidFill>
                <a:latin typeface="Verdana"/>
                <a:cs typeface="Verdana"/>
              </a:rPr>
              <a:t>revenue-</a:t>
            </a:r>
            <a:r>
              <a:rPr dirty="0" sz="1600" spc="-10">
                <a:solidFill>
                  <a:srgbClr val="384652"/>
                </a:solidFill>
                <a:latin typeface="Verdana"/>
                <a:cs typeface="Verdana"/>
              </a:rPr>
              <a:t>generating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600">
                <a:solidFill>
                  <a:srgbClr val="384652"/>
                </a:solidFill>
                <a:latin typeface="Verdana"/>
                <a:cs typeface="Verdana"/>
              </a:rPr>
              <a:t>category</a:t>
            </a:r>
            <a:r>
              <a:rPr dirty="0" sz="1600" spc="-12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384652"/>
                </a:solidFill>
                <a:latin typeface="Verdana"/>
                <a:cs typeface="Verdana"/>
              </a:rPr>
              <a:t>at</a:t>
            </a:r>
            <a:r>
              <a:rPr dirty="0" sz="1600" spc="-13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384652"/>
                </a:solidFill>
                <a:latin typeface="Verdana"/>
                <a:cs typeface="Verdana"/>
              </a:rPr>
              <a:t>approximately</a:t>
            </a:r>
            <a:r>
              <a:rPr dirty="0" sz="1600" spc="-10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600" spc="-25">
                <a:solidFill>
                  <a:srgbClr val="384652"/>
                </a:solidFill>
                <a:latin typeface="Verdana"/>
                <a:cs typeface="Verdana"/>
              </a:rPr>
              <a:t>26K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593453" y="3395598"/>
            <a:ext cx="4297680" cy="1656714"/>
            <a:chOff x="9593453" y="3395598"/>
            <a:chExt cx="4297680" cy="1656714"/>
          </a:xfrm>
        </p:grpSpPr>
        <p:sp>
          <p:nvSpPr>
            <p:cNvPr id="9" name="object 9" descr=""/>
            <p:cNvSpPr/>
            <p:nvPr/>
          </p:nvSpPr>
          <p:spPr>
            <a:xfrm>
              <a:off x="9616313" y="3407028"/>
              <a:ext cx="4263390" cy="1633855"/>
            </a:xfrm>
            <a:custGeom>
              <a:avLst/>
              <a:gdLst/>
              <a:ahLst/>
              <a:cxnLst/>
              <a:rect l="l" t="t" r="r" b="b"/>
              <a:pathLst>
                <a:path w="4263390" h="1633854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4153661" y="0"/>
                  </a:lnTo>
                  <a:lnTo>
                    <a:pt x="4196363" y="8626"/>
                  </a:lnTo>
                  <a:lnTo>
                    <a:pt x="4231243" y="32146"/>
                  </a:lnTo>
                  <a:lnTo>
                    <a:pt x="4254763" y="67026"/>
                  </a:lnTo>
                  <a:lnTo>
                    <a:pt x="4263390" y="109728"/>
                  </a:lnTo>
                  <a:lnTo>
                    <a:pt x="4263390" y="1523746"/>
                  </a:lnTo>
                  <a:lnTo>
                    <a:pt x="4254763" y="1566447"/>
                  </a:lnTo>
                  <a:lnTo>
                    <a:pt x="4231243" y="1601327"/>
                  </a:lnTo>
                  <a:lnTo>
                    <a:pt x="4196363" y="1624847"/>
                  </a:lnTo>
                  <a:lnTo>
                    <a:pt x="4153661" y="1633474"/>
                  </a:lnTo>
                  <a:lnTo>
                    <a:pt x="109727" y="1633474"/>
                  </a:lnTo>
                  <a:lnTo>
                    <a:pt x="67026" y="1624847"/>
                  </a:lnTo>
                  <a:lnTo>
                    <a:pt x="32146" y="1601327"/>
                  </a:lnTo>
                  <a:lnTo>
                    <a:pt x="8626" y="1566447"/>
                  </a:lnTo>
                  <a:lnTo>
                    <a:pt x="0" y="1523746"/>
                  </a:lnTo>
                  <a:lnTo>
                    <a:pt x="0" y="109728"/>
                  </a:lnTo>
                  <a:close/>
                </a:path>
              </a:pathLst>
            </a:custGeom>
            <a:ln w="2286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93453" y="3407028"/>
              <a:ext cx="91440" cy="1633474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9901808" y="3614673"/>
            <a:ext cx="3314065" cy="1165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10" b="1">
                <a:solidFill>
                  <a:srgbClr val="384652"/>
                </a:solidFill>
                <a:latin typeface="Tahoma"/>
                <a:cs typeface="Tahoma"/>
              </a:rPr>
              <a:t>Books</a:t>
            </a: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30600"/>
              </a:lnSpc>
              <a:spcBef>
                <a:spcPts val="1440"/>
              </a:spcBef>
            </a:pPr>
            <a:r>
              <a:rPr dirty="0" sz="1600">
                <a:solidFill>
                  <a:srgbClr val="384652"/>
                </a:solidFill>
                <a:latin typeface="Verdana"/>
                <a:cs typeface="Verdana"/>
              </a:rPr>
              <a:t>Significant</a:t>
            </a:r>
            <a:r>
              <a:rPr dirty="0" sz="1600" spc="-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384652"/>
                </a:solidFill>
                <a:latin typeface="Verdana"/>
                <a:cs typeface="Verdana"/>
              </a:rPr>
              <a:t>contributor</a:t>
            </a:r>
            <a:r>
              <a:rPr dirty="0" sz="1600" spc="-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384652"/>
                </a:solidFill>
                <a:latin typeface="Verdana"/>
                <a:cs typeface="Verdana"/>
              </a:rPr>
              <a:t>to</a:t>
            </a:r>
            <a:r>
              <a:rPr dirty="0" sz="1600" spc="-2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600" spc="-20">
                <a:solidFill>
                  <a:srgbClr val="384652"/>
                </a:solidFill>
                <a:latin typeface="Verdana"/>
                <a:cs typeface="Verdana"/>
              </a:rPr>
              <a:t>overall </a:t>
            </a:r>
            <a:r>
              <a:rPr dirty="0" sz="1600" spc="-40">
                <a:solidFill>
                  <a:srgbClr val="384652"/>
                </a:solidFill>
                <a:latin typeface="Verdana"/>
                <a:cs typeface="Verdana"/>
              </a:rPr>
              <a:t>sales</a:t>
            </a:r>
            <a:r>
              <a:rPr dirty="0" sz="1600" spc="-9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384652"/>
                </a:solidFill>
                <a:latin typeface="Verdana"/>
                <a:cs typeface="Verdana"/>
              </a:rPr>
              <a:t>performance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9593453" y="5224526"/>
            <a:ext cx="4297680" cy="1656714"/>
            <a:chOff x="9593453" y="5224526"/>
            <a:chExt cx="4297680" cy="1656714"/>
          </a:xfrm>
        </p:grpSpPr>
        <p:sp>
          <p:nvSpPr>
            <p:cNvPr id="13" name="object 13" descr=""/>
            <p:cNvSpPr/>
            <p:nvPr/>
          </p:nvSpPr>
          <p:spPr>
            <a:xfrm>
              <a:off x="9616313" y="5235956"/>
              <a:ext cx="4263390" cy="1633855"/>
            </a:xfrm>
            <a:custGeom>
              <a:avLst/>
              <a:gdLst/>
              <a:ahLst/>
              <a:cxnLst/>
              <a:rect l="l" t="t" r="r" b="b"/>
              <a:pathLst>
                <a:path w="4263390" h="1633854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4153661" y="0"/>
                  </a:lnTo>
                  <a:lnTo>
                    <a:pt x="4196363" y="8626"/>
                  </a:lnTo>
                  <a:lnTo>
                    <a:pt x="4231243" y="32146"/>
                  </a:lnTo>
                  <a:lnTo>
                    <a:pt x="4254763" y="67026"/>
                  </a:lnTo>
                  <a:lnTo>
                    <a:pt x="4263390" y="109728"/>
                  </a:lnTo>
                  <a:lnTo>
                    <a:pt x="4263390" y="1523746"/>
                  </a:lnTo>
                  <a:lnTo>
                    <a:pt x="4254763" y="1566447"/>
                  </a:lnTo>
                  <a:lnTo>
                    <a:pt x="4231243" y="1601327"/>
                  </a:lnTo>
                  <a:lnTo>
                    <a:pt x="4196363" y="1624847"/>
                  </a:lnTo>
                  <a:lnTo>
                    <a:pt x="4153661" y="1633474"/>
                  </a:lnTo>
                  <a:lnTo>
                    <a:pt x="109727" y="1633474"/>
                  </a:lnTo>
                  <a:lnTo>
                    <a:pt x="67026" y="1624847"/>
                  </a:lnTo>
                  <a:lnTo>
                    <a:pt x="32146" y="1601327"/>
                  </a:lnTo>
                  <a:lnTo>
                    <a:pt x="8626" y="1566447"/>
                  </a:lnTo>
                  <a:lnTo>
                    <a:pt x="0" y="1523746"/>
                  </a:lnTo>
                  <a:lnTo>
                    <a:pt x="0" y="109728"/>
                  </a:lnTo>
                  <a:close/>
                </a:path>
              </a:pathLst>
            </a:custGeom>
            <a:ln w="2286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93453" y="5235956"/>
              <a:ext cx="91440" cy="1633474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9901808" y="5443854"/>
            <a:ext cx="3623310" cy="1165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20" b="1">
                <a:solidFill>
                  <a:srgbClr val="384652"/>
                </a:solidFill>
                <a:latin typeface="Tahoma"/>
                <a:cs typeface="Tahoma"/>
              </a:rPr>
              <a:t>Home</a:t>
            </a: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dirty="0" sz="1600">
                <a:solidFill>
                  <a:srgbClr val="384652"/>
                </a:solidFill>
                <a:latin typeface="Verdana"/>
                <a:cs typeface="Verdana"/>
              </a:rPr>
              <a:t>Lowest</a:t>
            </a:r>
            <a:r>
              <a:rPr dirty="0" sz="1600" spc="-7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600">
                <a:solidFill>
                  <a:srgbClr val="384652"/>
                </a:solidFill>
                <a:latin typeface="Verdana"/>
                <a:cs typeface="Verdana"/>
              </a:rPr>
              <a:t>performer</a:t>
            </a:r>
            <a:r>
              <a:rPr dirty="0" sz="1600" spc="-9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384652"/>
                </a:solidFill>
                <a:latin typeface="Verdana"/>
                <a:cs typeface="Verdana"/>
              </a:rPr>
              <a:t>at</a:t>
            </a:r>
            <a:r>
              <a:rPr dirty="0" sz="1600" spc="-8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384652"/>
                </a:solidFill>
                <a:latin typeface="Verdana"/>
                <a:cs typeface="Verdana"/>
              </a:rPr>
              <a:t>approximately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600" spc="-60">
                <a:solidFill>
                  <a:srgbClr val="384652"/>
                </a:solidFill>
                <a:latin typeface="Verdana"/>
                <a:cs typeface="Verdana"/>
              </a:rPr>
              <a:t>22K—</a:t>
            </a:r>
            <a:r>
              <a:rPr dirty="0" sz="1600" spc="-10">
                <a:solidFill>
                  <a:srgbClr val="384652"/>
                </a:solidFill>
                <a:latin typeface="Verdana"/>
                <a:cs typeface="Verdana"/>
              </a:rPr>
              <a:t>requires</a:t>
            </a:r>
            <a:r>
              <a:rPr dirty="0" sz="1600" spc="-5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384652"/>
                </a:solidFill>
                <a:latin typeface="Verdana"/>
                <a:cs typeface="Verdana"/>
              </a:rPr>
              <a:t>attention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0" y="0"/>
            <a:ext cx="14624050" cy="7798434"/>
            <a:chOff x="0" y="0"/>
            <a:chExt cx="14624050" cy="7798434"/>
          </a:xfrm>
        </p:grpSpPr>
        <p:sp>
          <p:nvSpPr>
            <p:cNvPr id="17" name="object 17" descr=""/>
            <p:cNvSpPr/>
            <p:nvPr/>
          </p:nvSpPr>
          <p:spPr>
            <a:xfrm>
              <a:off x="8483218" y="1724786"/>
              <a:ext cx="0" cy="4780280"/>
            </a:xfrm>
            <a:custGeom>
              <a:avLst/>
              <a:gdLst/>
              <a:ahLst/>
              <a:cxnLst/>
              <a:rect l="l" t="t" r="r" b="b"/>
              <a:pathLst>
                <a:path w="0" h="4780280">
                  <a:moveTo>
                    <a:pt x="0" y="0"/>
                  </a:moveTo>
                  <a:lnTo>
                    <a:pt x="0" y="4780026"/>
                  </a:lnTo>
                </a:path>
              </a:pathLst>
            </a:custGeom>
            <a:ln w="190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350" y="6350"/>
              <a:ext cx="14611350" cy="7785734"/>
            </a:xfrm>
            <a:custGeom>
              <a:avLst/>
              <a:gdLst/>
              <a:ahLst/>
              <a:cxnLst/>
              <a:rect l="l" t="t" r="r" b="b"/>
              <a:pathLst>
                <a:path w="14611350" h="7785734">
                  <a:moveTo>
                    <a:pt x="14611350" y="0"/>
                  </a:moveTo>
                  <a:lnTo>
                    <a:pt x="0" y="0"/>
                  </a:lnTo>
                  <a:lnTo>
                    <a:pt x="0" y="7785709"/>
                  </a:lnTo>
                  <a:lnTo>
                    <a:pt x="14611350" y="7785709"/>
                  </a:lnTo>
                  <a:lnTo>
                    <a:pt x="1461135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350" y="6350"/>
              <a:ext cx="14611350" cy="7785734"/>
            </a:xfrm>
            <a:custGeom>
              <a:avLst/>
              <a:gdLst/>
              <a:ahLst/>
              <a:cxnLst/>
              <a:rect l="l" t="t" r="r" b="b"/>
              <a:pathLst>
                <a:path w="14611350" h="7785734">
                  <a:moveTo>
                    <a:pt x="0" y="7785709"/>
                  </a:moveTo>
                  <a:lnTo>
                    <a:pt x="14611350" y="7785709"/>
                  </a:lnTo>
                  <a:lnTo>
                    <a:pt x="14611350" y="0"/>
                  </a:lnTo>
                  <a:lnTo>
                    <a:pt x="0" y="0"/>
                  </a:lnTo>
                  <a:lnTo>
                    <a:pt x="0" y="7785709"/>
                  </a:lnTo>
                  <a:close/>
                </a:path>
              </a:pathLst>
            </a:custGeom>
            <a:ln w="12700">
              <a:solidFill>
                <a:srgbClr val="00A5E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346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100"/>
              </a:spcBef>
            </a:pPr>
            <a:r>
              <a:rPr dirty="0" spc="-320"/>
              <a:t>Recommendations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870610" y="1632330"/>
            <a:ext cx="6456680" cy="5356225"/>
            <a:chOff x="870610" y="1632330"/>
            <a:chExt cx="6456680" cy="5356225"/>
          </a:xfrm>
        </p:grpSpPr>
        <p:sp>
          <p:nvSpPr>
            <p:cNvPr id="4" name="object 4" descr=""/>
            <p:cNvSpPr/>
            <p:nvPr/>
          </p:nvSpPr>
          <p:spPr>
            <a:xfrm>
              <a:off x="874420" y="1636140"/>
              <a:ext cx="6449060" cy="5348605"/>
            </a:xfrm>
            <a:custGeom>
              <a:avLst/>
              <a:gdLst/>
              <a:ahLst/>
              <a:cxnLst/>
              <a:rect l="l" t="t" r="r" b="b"/>
              <a:pathLst>
                <a:path w="6449059" h="5348605">
                  <a:moveTo>
                    <a:pt x="6123533" y="0"/>
                  </a:moveTo>
                  <a:lnTo>
                    <a:pt x="324980" y="0"/>
                  </a:lnTo>
                  <a:lnTo>
                    <a:pt x="276958" y="3521"/>
                  </a:lnTo>
                  <a:lnTo>
                    <a:pt x="231123" y="13752"/>
                  </a:lnTo>
                  <a:lnTo>
                    <a:pt x="187979" y="30191"/>
                  </a:lnTo>
                  <a:lnTo>
                    <a:pt x="148027" y="52335"/>
                  </a:lnTo>
                  <a:lnTo>
                    <a:pt x="111771" y="79685"/>
                  </a:lnTo>
                  <a:lnTo>
                    <a:pt x="79713" y="111737"/>
                  </a:lnTo>
                  <a:lnTo>
                    <a:pt x="52357" y="147991"/>
                  </a:lnTo>
                  <a:lnTo>
                    <a:pt x="30205" y="187945"/>
                  </a:lnTo>
                  <a:lnTo>
                    <a:pt x="13759" y="231098"/>
                  </a:lnTo>
                  <a:lnTo>
                    <a:pt x="3523" y="276947"/>
                  </a:lnTo>
                  <a:lnTo>
                    <a:pt x="0" y="324992"/>
                  </a:lnTo>
                  <a:lnTo>
                    <a:pt x="0" y="5023611"/>
                  </a:lnTo>
                  <a:lnTo>
                    <a:pt x="3523" y="5071628"/>
                  </a:lnTo>
                  <a:lnTo>
                    <a:pt x="13759" y="5117459"/>
                  </a:lnTo>
                  <a:lnTo>
                    <a:pt x="30205" y="5160602"/>
                  </a:lnTo>
                  <a:lnTo>
                    <a:pt x="52357" y="5200553"/>
                  </a:lnTo>
                  <a:lnTo>
                    <a:pt x="79713" y="5236810"/>
                  </a:lnTo>
                  <a:lnTo>
                    <a:pt x="111771" y="5268869"/>
                  </a:lnTo>
                  <a:lnTo>
                    <a:pt x="148027" y="5296228"/>
                  </a:lnTo>
                  <a:lnTo>
                    <a:pt x="187979" y="5318382"/>
                  </a:lnTo>
                  <a:lnTo>
                    <a:pt x="231123" y="5334830"/>
                  </a:lnTo>
                  <a:lnTo>
                    <a:pt x="276958" y="5345067"/>
                  </a:lnTo>
                  <a:lnTo>
                    <a:pt x="324980" y="5348592"/>
                  </a:lnTo>
                  <a:lnTo>
                    <a:pt x="6123533" y="5348592"/>
                  </a:lnTo>
                  <a:lnTo>
                    <a:pt x="6171550" y="5345067"/>
                  </a:lnTo>
                  <a:lnTo>
                    <a:pt x="6217382" y="5334830"/>
                  </a:lnTo>
                  <a:lnTo>
                    <a:pt x="6260526" y="5318382"/>
                  </a:lnTo>
                  <a:lnTo>
                    <a:pt x="6300479" y="5296228"/>
                  </a:lnTo>
                  <a:lnTo>
                    <a:pt x="6336737" y="5268869"/>
                  </a:lnTo>
                  <a:lnTo>
                    <a:pt x="6368798" y="5236810"/>
                  </a:lnTo>
                  <a:lnTo>
                    <a:pt x="6396158" y="5200553"/>
                  </a:lnTo>
                  <a:lnTo>
                    <a:pt x="6418314" y="5160602"/>
                  </a:lnTo>
                  <a:lnTo>
                    <a:pt x="6434763" y="5117459"/>
                  </a:lnTo>
                  <a:lnTo>
                    <a:pt x="6445001" y="5071628"/>
                  </a:lnTo>
                  <a:lnTo>
                    <a:pt x="6448526" y="5023611"/>
                  </a:lnTo>
                  <a:lnTo>
                    <a:pt x="6448526" y="324992"/>
                  </a:lnTo>
                  <a:lnTo>
                    <a:pt x="6445001" y="276947"/>
                  </a:lnTo>
                  <a:lnTo>
                    <a:pt x="6434763" y="231098"/>
                  </a:lnTo>
                  <a:lnTo>
                    <a:pt x="6418314" y="187945"/>
                  </a:lnTo>
                  <a:lnTo>
                    <a:pt x="6396158" y="147991"/>
                  </a:lnTo>
                  <a:lnTo>
                    <a:pt x="6368798" y="111737"/>
                  </a:lnTo>
                  <a:lnTo>
                    <a:pt x="6336737" y="79685"/>
                  </a:lnTo>
                  <a:lnTo>
                    <a:pt x="6300479" y="52335"/>
                  </a:lnTo>
                  <a:lnTo>
                    <a:pt x="6260526" y="30191"/>
                  </a:lnTo>
                  <a:lnTo>
                    <a:pt x="6217382" y="13752"/>
                  </a:lnTo>
                  <a:lnTo>
                    <a:pt x="6171550" y="3521"/>
                  </a:lnTo>
                  <a:lnTo>
                    <a:pt x="6123533" y="0"/>
                  </a:lnTo>
                  <a:close/>
                </a:path>
              </a:pathLst>
            </a:custGeom>
            <a:solidFill>
              <a:srgbClr val="D3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4420" y="1636140"/>
              <a:ext cx="6449060" cy="5348605"/>
            </a:xfrm>
            <a:custGeom>
              <a:avLst/>
              <a:gdLst/>
              <a:ahLst/>
              <a:cxnLst/>
              <a:rect l="l" t="t" r="r" b="b"/>
              <a:pathLst>
                <a:path w="6449059" h="5348605">
                  <a:moveTo>
                    <a:pt x="0" y="324992"/>
                  </a:moveTo>
                  <a:lnTo>
                    <a:pt x="3523" y="276947"/>
                  </a:lnTo>
                  <a:lnTo>
                    <a:pt x="13759" y="231098"/>
                  </a:lnTo>
                  <a:lnTo>
                    <a:pt x="30205" y="187945"/>
                  </a:lnTo>
                  <a:lnTo>
                    <a:pt x="52357" y="147991"/>
                  </a:lnTo>
                  <a:lnTo>
                    <a:pt x="79713" y="111737"/>
                  </a:lnTo>
                  <a:lnTo>
                    <a:pt x="111771" y="79685"/>
                  </a:lnTo>
                  <a:lnTo>
                    <a:pt x="148027" y="52335"/>
                  </a:lnTo>
                  <a:lnTo>
                    <a:pt x="187979" y="30191"/>
                  </a:lnTo>
                  <a:lnTo>
                    <a:pt x="231123" y="13752"/>
                  </a:lnTo>
                  <a:lnTo>
                    <a:pt x="276958" y="3521"/>
                  </a:lnTo>
                  <a:lnTo>
                    <a:pt x="324980" y="0"/>
                  </a:lnTo>
                  <a:lnTo>
                    <a:pt x="6123533" y="0"/>
                  </a:lnTo>
                  <a:lnTo>
                    <a:pt x="6171550" y="3521"/>
                  </a:lnTo>
                  <a:lnTo>
                    <a:pt x="6217382" y="13752"/>
                  </a:lnTo>
                  <a:lnTo>
                    <a:pt x="6260526" y="30191"/>
                  </a:lnTo>
                  <a:lnTo>
                    <a:pt x="6300479" y="52335"/>
                  </a:lnTo>
                  <a:lnTo>
                    <a:pt x="6336737" y="79685"/>
                  </a:lnTo>
                  <a:lnTo>
                    <a:pt x="6368798" y="111737"/>
                  </a:lnTo>
                  <a:lnTo>
                    <a:pt x="6396158" y="147991"/>
                  </a:lnTo>
                  <a:lnTo>
                    <a:pt x="6418314" y="187945"/>
                  </a:lnTo>
                  <a:lnTo>
                    <a:pt x="6434763" y="231098"/>
                  </a:lnTo>
                  <a:lnTo>
                    <a:pt x="6445001" y="276947"/>
                  </a:lnTo>
                  <a:lnTo>
                    <a:pt x="6448526" y="324992"/>
                  </a:lnTo>
                  <a:lnTo>
                    <a:pt x="6448526" y="5023611"/>
                  </a:lnTo>
                  <a:lnTo>
                    <a:pt x="6445001" y="5071628"/>
                  </a:lnTo>
                  <a:lnTo>
                    <a:pt x="6434763" y="5117459"/>
                  </a:lnTo>
                  <a:lnTo>
                    <a:pt x="6418314" y="5160602"/>
                  </a:lnTo>
                  <a:lnTo>
                    <a:pt x="6396158" y="5200553"/>
                  </a:lnTo>
                  <a:lnTo>
                    <a:pt x="6368798" y="5236810"/>
                  </a:lnTo>
                  <a:lnTo>
                    <a:pt x="6336737" y="5268869"/>
                  </a:lnTo>
                  <a:lnTo>
                    <a:pt x="6300479" y="5296228"/>
                  </a:lnTo>
                  <a:lnTo>
                    <a:pt x="6260526" y="5318382"/>
                  </a:lnTo>
                  <a:lnTo>
                    <a:pt x="6217382" y="5334830"/>
                  </a:lnTo>
                  <a:lnTo>
                    <a:pt x="6171550" y="5345067"/>
                  </a:lnTo>
                  <a:lnTo>
                    <a:pt x="6123533" y="5348592"/>
                  </a:lnTo>
                  <a:lnTo>
                    <a:pt x="324980" y="5348592"/>
                  </a:lnTo>
                  <a:lnTo>
                    <a:pt x="276958" y="5345067"/>
                  </a:lnTo>
                  <a:lnTo>
                    <a:pt x="231123" y="5334830"/>
                  </a:lnTo>
                  <a:lnTo>
                    <a:pt x="187979" y="5318382"/>
                  </a:lnTo>
                  <a:lnTo>
                    <a:pt x="148027" y="5296228"/>
                  </a:lnTo>
                  <a:lnTo>
                    <a:pt x="111771" y="5268869"/>
                  </a:lnTo>
                  <a:lnTo>
                    <a:pt x="79713" y="5236810"/>
                  </a:lnTo>
                  <a:lnTo>
                    <a:pt x="52357" y="5200553"/>
                  </a:lnTo>
                  <a:lnTo>
                    <a:pt x="30205" y="5160602"/>
                  </a:lnTo>
                  <a:lnTo>
                    <a:pt x="13759" y="5117459"/>
                  </a:lnTo>
                  <a:lnTo>
                    <a:pt x="3523" y="5071628"/>
                  </a:lnTo>
                  <a:lnTo>
                    <a:pt x="0" y="5023611"/>
                  </a:lnTo>
                  <a:lnTo>
                    <a:pt x="0" y="324992"/>
                  </a:lnTo>
                  <a:close/>
                </a:path>
              </a:pathLst>
            </a:custGeom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8613" y="1860321"/>
              <a:ext cx="649960" cy="64996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9578" y="2108480"/>
              <a:ext cx="274105" cy="153618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45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pc="-440"/>
              <a:t>1.</a:t>
            </a:r>
            <a:r>
              <a:rPr dirty="0" spc="-240"/>
              <a:t> </a:t>
            </a:r>
            <a:r>
              <a:rPr dirty="0" spc="-254"/>
              <a:t>Improve </a:t>
            </a:r>
            <a:r>
              <a:rPr dirty="0" spc="-180"/>
              <a:t>Shipping</a:t>
            </a:r>
            <a:r>
              <a:rPr dirty="0" spc="-265"/>
              <a:t> </a:t>
            </a:r>
            <a:r>
              <a:rPr dirty="0" spc="-10"/>
              <a:t>Speed</a:t>
            </a: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2200" spc="-170"/>
              <a:t>(Highest </a:t>
            </a:r>
            <a:r>
              <a:rPr dirty="0" sz="2200" spc="-25"/>
              <a:t>Priority)</a:t>
            </a:r>
            <a:endParaRPr sz="2200"/>
          </a:p>
          <a:p>
            <a:pPr marL="12700" marR="5080">
              <a:lnSpc>
                <a:spcPct val="132400"/>
              </a:lnSpc>
              <a:spcBef>
                <a:spcPts val="955"/>
              </a:spcBef>
            </a:pPr>
            <a:r>
              <a:rPr dirty="0" sz="1700" spc="-85">
                <a:latin typeface="Verdana"/>
                <a:cs typeface="Verdana"/>
              </a:rPr>
              <a:t>Current:</a:t>
            </a:r>
            <a:r>
              <a:rPr dirty="0" sz="1700" spc="-5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Average</a:t>
            </a:r>
            <a:r>
              <a:rPr dirty="0" sz="1700" spc="-75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shipping</a:t>
            </a:r>
            <a:r>
              <a:rPr dirty="0" sz="1700" spc="-40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time</a:t>
            </a:r>
            <a:r>
              <a:rPr dirty="0" sz="1700" spc="-85" b="0">
                <a:latin typeface="Verdana"/>
                <a:cs typeface="Verdana"/>
              </a:rPr>
              <a:t> </a:t>
            </a:r>
            <a:r>
              <a:rPr dirty="0" sz="1700" spc="-40" b="0">
                <a:latin typeface="Verdana"/>
                <a:cs typeface="Verdana"/>
              </a:rPr>
              <a:t>is</a:t>
            </a:r>
            <a:r>
              <a:rPr dirty="0" sz="1700" spc="-45" b="0">
                <a:latin typeface="Verdana"/>
                <a:cs typeface="Verdana"/>
              </a:rPr>
              <a:t> </a:t>
            </a:r>
            <a:r>
              <a:rPr dirty="0" sz="1700" spc="-280" b="0">
                <a:latin typeface="Verdana"/>
                <a:cs typeface="Verdana"/>
              </a:rPr>
              <a:t>13–15</a:t>
            </a:r>
            <a:r>
              <a:rPr dirty="0" sz="1700" spc="-60" b="0">
                <a:latin typeface="Verdana"/>
                <a:cs typeface="Verdana"/>
              </a:rPr>
              <a:t> </a:t>
            </a:r>
            <a:r>
              <a:rPr dirty="0" sz="1700" spc="-75" b="0">
                <a:latin typeface="Verdana"/>
                <a:cs typeface="Verdana"/>
              </a:rPr>
              <a:t>days.</a:t>
            </a:r>
            <a:r>
              <a:rPr dirty="0" sz="1700" spc="-50" b="0">
                <a:latin typeface="Verdana"/>
                <a:cs typeface="Verdana"/>
              </a:rPr>
              <a:t> </a:t>
            </a:r>
            <a:r>
              <a:rPr dirty="0" sz="1700" spc="-135" b="0">
                <a:latin typeface="Verdana"/>
                <a:cs typeface="Verdana"/>
              </a:rPr>
              <a:t>5-</a:t>
            </a:r>
            <a:r>
              <a:rPr dirty="0" sz="1700" spc="-20" b="0">
                <a:latin typeface="Verdana"/>
                <a:cs typeface="Verdana"/>
              </a:rPr>
              <a:t>star </a:t>
            </a:r>
            <a:r>
              <a:rPr dirty="0" sz="1700" b="0">
                <a:latin typeface="Verdana"/>
                <a:cs typeface="Verdana"/>
              </a:rPr>
              <a:t>ratings</a:t>
            </a:r>
            <a:r>
              <a:rPr dirty="0" sz="1700" spc="-125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receive</a:t>
            </a:r>
            <a:r>
              <a:rPr dirty="0" sz="1700" spc="-114" b="0">
                <a:latin typeface="Verdana"/>
                <a:cs typeface="Verdana"/>
              </a:rPr>
              <a:t> </a:t>
            </a:r>
            <a:r>
              <a:rPr dirty="0" sz="1700" spc="-10" b="0">
                <a:latin typeface="Verdana"/>
                <a:cs typeface="Verdana"/>
              </a:rPr>
              <a:t>orders</a:t>
            </a:r>
            <a:r>
              <a:rPr dirty="0" sz="1700" spc="-105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in</a:t>
            </a:r>
            <a:r>
              <a:rPr dirty="0" sz="1700" spc="-110" b="0">
                <a:latin typeface="Verdana"/>
                <a:cs typeface="Verdana"/>
              </a:rPr>
              <a:t> </a:t>
            </a:r>
            <a:r>
              <a:rPr dirty="0" sz="1700" spc="-450" b="0">
                <a:latin typeface="Verdana"/>
                <a:cs typeface="Verdana"/>
              </a:rPr>
              <a:t>~11</a:t>
            </a:r>
            <a:r>
              <a:rPr dirty="0" sz="1700" spc="-120" b="0">
                <a:latin typeface="Verdana"/>
                <a:cs typeface="Verdana"/>
              </a:rPr>
              <a:t> </a:t>
            </a:r>
            <a:r>
              <a:rPr dirty="0" sz="1700" spc="-75" b="0">
                <a:latin typeface="Verdana"/>
                <a:cs typeface="Verdana"/>
              </a:rPr>
              <a:t>days,</a:t>
            </a:r>
            <a:r>
              <a:rPr dirty="0" sz="1700" spc="-125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while</a:t>
            </a:r>
            <a:r>
              <a:rPr dirty="0" sz="1700" spc="-105" b="0">
                <a:latin typeface="Verdana"/>
                <a:cs typeface="Verdana"/>
              </a:rPr>
              <a:t> </a:t>
            </a:r>
            <a:r>
              <a:rPr dirty="0" sz="1700" spc="-265" b="0">
                <a:latin typeface="Verdana"/>
                <a:cs typeface="Verdana"/>
              </a:rPr>
              <a:t>1–2</a:t>
            </a:r>
            <a:r>
              <a:rPr dirty="0" sz="1700" spc="-120" b="0">
                <a:latin typeface="Verdana"/>
                <a:cs typeface="Verdana"/>
              </a:rPr>
              <a:t> </a:t>
            </a:r>
            <a:r>
              <a:rPr dirty="0" sz="1700" spc="-30" b="0">
                <a:latin typeface="Verdana"/>
                <a:cs typeface="Verdana"/>
              </a:rPr>
              <a:t>star</a:t>
            </a:r>
            <a:r>
              <a:rPr dirty="0" sz="1700" spc="-110" b="0">
                <a:latin typeface="Verdana"/>
                <a:cs typeface="Verdana"/>
              </a:rPr>
              <a:t> </a:t>
            </a:r>
            <a:r>
              <a:rPr dirty="0" sz="1700" spc="-10" b="0">
                <a:latin typeface="Verdana"/>
                <a:cs typeface="Verdana"/>
              </a:rPr>
              <a:t>ratings </a:t>
            </a:r>
            <a:r>
              <a:rPr dirty="0" sz="1700" b="0">
                <a:latin typeface="Verdana"/>
                <a:cs typeface="Verdana"/>
              </a:rPr>
              <a:t>exceed</a:t>
            </a:r>
            <a:r>
              <a:rPr dirty="0" sz="1700" spc="-130" b="0">
                <a:latin typeface="Verdana"/>
                <a:cs typeface="Verdana"/>
              </a:rPr>
              <a:t> </a:t>
            </a:r>
            <a:r>
              <a:rPr dirty="0" sz="1700" spc="-254" b="0">
                <a:latin typeface="Verdana"/>
                <a:cs typeface="Verdana"/>
              </a:rPr>
              <a:t>15–18</a:t>
            </a:r>
            <a:r>
              <a:rPr dirty="0" sz="1700" spc="-110" b="0">
                <a:latin typeface="Verdana"/>
                <a:cs typeface="Verdana"/>
              </a:rPr>
              <a:t> </a:t>
            </a:r>
            <a:r>
              <a:rPr dirty="0" sz="1700" spc="-20" b="0">
                <a:latin typeface="Verdana"/>
                <a:cs typeface="Verdana"/>
              </a:rPr>
              <a:t>days.</a:t>
            </a:r>
            <a:endParaRPr sz="1700">
              <a:latin typeface="Verdana"/>
              <a:cs typeface="Verdana"/>
            </a:endParaRPr>
          </a:p>
          <a:p>
            <a:pPr algn="just" marL="12700" marR="65405">
              <a:lnSpc>
                <a:spcPct val="132400"/>
              </a:lnSpc>
              <a:spcBef>
                <a:spcPts val="1115"/>
              </a:spcBef>
            </a:pPr>
            <a:r>
              <a:rPr dirty="0" sz="1700" spc="-85">
                <a:latin typeface="Verdana"/>
                <a:cs typeface="Verdana"/>
              </a:rPr>
              <a:t>Action:</a:t>
            </a:r>
            <a:r>
              <a:rPr dirty="0" sz="1700" spc="-3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Operations</a:t>
            </a:r>
            <a:r>
              <a:rPr dirty="0" sz="1700" spc="-20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team</a:t>
            </a:r>
            <a:r>
              <a:rPr dirty="0" sz="1700" spc="-55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should reduce</a:t>
            </a:r>
            <a:r>
              <a:rPr dirty="0" sz="1700" spc="-5" b="0">
                <a:latin typeface="Verdana"/>
                <a:cs typeface="Verdana"/>
              </a:rPr>
              <a:t> </a:t>
            </a:r>
            <a:r>
              <a:rPr dirty="0" sz="1700" spc="-25" b="0">
                <a:latin typeface="Verdana"/>
                <a:cs typeface="Verdana"/>
              </a:rPr>
              <a:t>delivery</a:t>
            </a:r>
            <a:r>
              <a:rPr dirty="0" sz="1700" spc="-10" b="0">
                <a:latin typeface="Verdana"/>
                <a:cs typeface="Verdana"/>
              </a:rPr>
              <a:t> </a:t>
            </a:r>
            <a:r>
              <a:rPr dirty="0" sz="1700" spc="-20" b="0">
                <a:latin typeface="Verdana"/>
                <a:cs typeface="Verdana"/>
              </a:rPr>
              <a:t>time </a:t>
            </a:r>
            <a:r>
              <a:rPr dirty="0" sz="1700" b="0">
                <a:latin typeface="Verdana"/>
                <a:cs typeface="Verdana"/>
              </a:rPr>
              <a:t>to</a:t>
            </a:r>
            <a:r>
              <a:rPr dirty="0" sz="1700" spc="-150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under</a:t>
            </a:r>
            <a:r>
              <a:rPr dirty="0" sz="1700" spc="-150" b="0">
                <a:latin typeface="Verdana"/>
                <a:cs typeface="Verdana"/>
              </a:rPr>
              <a:t> </a:t>
            </a:r>
            <a:r>
              <a:rPr dirty="0" sz="1700" spc="-434" b="0">
                <a:latin typeface="Verdana"/>
                <a:cs typeface="Verdana"/>
              </a:rPr>
              <a:t>10</a:t>
            </a:r>
            <a:r>
              <a:rPr dirty="0" sz="1700" spc="285" b="0">
                <a:latin typeface="Verdana"/>
                <a:cs typeface="Verdana"/>
              </a:rPr>
              <a:t> </a:t>
            </a:r>
            <a:r>
              <a:rPr dirty="0" sz="1700" spc="-90" b="0">
                <a:latin typeface="Verdana"/>
                <a:cs typeface="Verdana"/>
              </a:rPr>
              <a:t>days,</a:t>
            </a:r>
            <a:r>
              <a:rPr dirty="0" sz="1700" spc="-60" b="0">
                <a:latin typeface="Verdana"/>
                <a:cs typeface="Verdana"/>
              </a:rPr>
              <a:t> </a:t>
            </a:r>
            <a:r>
              <a:rPr dirty="0" sz="1700" spc="-10" b="0">
                <a:latin typeface="Verdana"/>
                <a:cs typeface="Verdana"/>
              </a:rPr>
              <a:t>especially</a:t>
            </a:r>
            <a:r>
              <a:rPr dirty="0" sz="1700" spc="-15" b="0">
                <a:latin typeface="Verdana"/>
                <a:cs typeface="Verdana"/>
              </a:rPr>
              <a:t> </a:t>
            </a:r>
            <a:r>
              <a:rPr dirty="0" sz="1700" spc="-30" b="0">
                <a:latin typeface="Verdana"/>
                <a:cs typeface="Verdana"/>
              </a:rPr>
              <a:t>for</a:t>
            </a:r>
            <a:r>
              <a:rPr dirty="0" sz="1700" spc="-5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Apparel</a:t>
            </a:r>
            <a:r>
              <a:rPr dirty="0" sz="1700" spc="-35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and</a:t>
            </a:r>
            <a:r>
              <a:rPr dirty="0" sz="1700" spc="-20" b="0">
                <a:latin typeface="Verdana"/>
                <a:cs typeface="Verdana"/>
              </a:rPr>
              <a:t> </a:t>
            </a:r>
            <a:r>
              <a:rPr dirty="0" sz="1700" spc="-35" b="0">
                <a:latin typeface="Verdana"/>
                <a:cs typeface="Verdana"/>
              </a:rPr>
              <a:t>Books,</a:t>
            </a:r>
            <a:r>
              <a:rPr dirty="0" sz="1700" spc="-5" b="0">
                <a:latin typeface="Verdana"/>
                <a:cs typeface="Verdana"/>
              </a:rPr>
              <a:t> </a:t>
            </a:r>
            <a:r>
              <a:rPr dirty="0" sz="1700" spc="-25" b="0">
                <a:latin typeface="Verdana"/>
                <a:cs typeface="Verdana"/>
              </a:rPr>
              <a:t>by </a:t>
            </a:r>
            <a:r>
              <a:rPr dirty="0" sz="1700" b="0">
                <a:latin typeface="Verdana"/>
                <a:cs typeface="Verdana"/>
              </a:rPr>
              <a:t>optimizing</a:t>
            </a:r>
            <a:r>
              <a:rPr dirty="0" sz="1700" spc="-70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logistics</a:t>
            </a:r>
            <a:r>
              <a:rPr dirty="0" sz="1700" spc="10" b="0">
                <a:latin typeface="Verdana"/>
                <a:cs typeface="Verdana"/>
              </a:rPr>
              <a:t> </a:t>
            </a:r>
            <a:r>
              <a:rPr dirty="0" sz="1700" spc="-10" b="0">
                <a:latin typeface="Verdana"/>
                <a:cs typeface="Verdana"/>
              </a:rPr>
              <a:t>or</a:t>
            </a:r>
            <a:r>
              <a:rPr dirty="0" sz="1700" spc="-25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using</a:t>
            </a:r>
            <a:r>
              <a:rPr dirty="0" sz="1700" spc="-10" b="0">
                <a:latin typeface="Verdana"/>
                <a:cs typeface="Verdana"/>
              </a:rPr>
              <a:t> </a:t>
            </a:r>
            <a:r>
              <a:rPr dirty="0" sz="1700" spc="-30" b="0">
                <a:latin typeface="Verdana"/>
                <a:cs typeface="Verdana"/>
              </a:rPr>
              <a:t>faster</a:t>
            </a:r>
            <a:r>
              <a:rPr dirty="0" sz="1700" spc="-45" b="0">
                <a:latin typeface="Verdana"/>
                <a:cs typeface="Verdana"/>
              </a:rPr>
              <a:t> </a:t>
            </a:r>
            <a:r>
              <a:rPr dirty="0" sz="1700" spc="-20" b="0">
                <a:latin typeface="Verdana"/>
                <a:cs typeface="Verdana"/>
              </a:rPr>
              <a:t>delivery</a:t>
            </a:r>
            <a:r>
              <a:rPr dirty="0" sz="1700" spc="-5" b="0">
                <a:latin typeface="Verdana"/>
                <a:cs typeface="Verdana"/>
              </a:rPr>
              <a:t> </a:t>
            </a:r>
            <a:r>
              <a:rPr dirty="0" sz="1700" spc="-10" b="0">
                <a:latin typeface="Verdana"/>
                <a:cs typeface="Verdana"/>
              </a:rPr>
              <a:t>partners.</a:t>
            </a:r>
            <a:endParaRPr sz="17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1770"/>
              </a:spcBef>
            </a:pPr>
            <a:r>
              <a:rPr dirty="0" sz="1700" spc="-50">
                <a:latin typeface="Verdana"/>
                <a:cs typeface="Verdana"/>
              </a:rPr>
              <a:t>Expected</a:t>
            </a:r>
            <a:r>
              <a:rPr dirty="0" sz="1700" spc="-5">
                <a:latin typeface="Verdana"/>
                <a:cs typeface="Verdana"/>
              </a:rPr>
              <a:t> </a:t>
            </a:r>
            <a:r>
              <a:rPr dirty="0" sz="1700" spc="-114">
                <a:latin typeface="Verdana"/>
                <a:cs typeface="Verdana"/>
              </a:rPr>
              <a:t>Impact:</a:t>
            </a:r>
            <a:r>
              <a:rPr dirty="0" sz="1700" spc="-2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Higher</a:t>
            </a:r>
            <a:r>
              <a:rPr dirty="0" sz="1700" spc="-10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customer</a:t>
            </a:r>
            <a:r>
              <a:rPr dirty="0" sz="1700" spc="-40" b="0">
                <a:latin typeface="Verdana"/>
                <a:cs typeface="Verdana"/>
              </a:rPr>
              <a:t> </a:t>
            </a:r>
            <a:r>
              <a:rPr dirty="0" sz="1700" spc="-10" b="0">
                <a:latin typeface="Verdana"/>
                <a:cs typeface="Verdana"/>
              </a:rPr>
              <a:t>satisfaction</a:t>
            </a:r>
            <a:r>
              <a:rPr dirty="0" sz="1700" spc="-45" b="0">
                <a:latin typeface="Verdana"/>
                <a:cs typeface="Verdana"/>
              </a:rPr>
              <a:t> </a:t>
            </a:r>
            <a:r>
              <a:rPr dirty="0" sz="1700" spc="-25" b="0">
                <a:latin typeface="Verdana"/>
                <a:cs typeface="Verdana"/>
              </a:rPr>
              <a:t>and</a:t>
            </a:r>
            <a:endParaRPr sz="17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660"/>
              </a:spcBef>
            </a:pPr>
            <a:r>
              <a:rPr dirty="0" sz="1700" b="0">
                <a:latin typeface="Verdana"/>
                <a:cs typeface="Verdana"/>
              </a:rPr>
              <a:t>increased</a:t>
            </a:r>
            <a:r>
              <a:rPr dirty="0" sz="1700" spc="-80" b="0">
                <a:latin typeface="Verdana"/>
                <a:cs typeface="Verdana"/>
              </a:rPr>
              <a:t> </a:t>
            </a:r>
            <a:r>
              <a:rPr dirty="0" sz="1700" b="0">
                <a:latin typeface="Verdana"/>
                <a:cs typeface="Verdana"/>
              </a:rPr>
              <a:t>repeat</a:t>
            </a:r>
            <a:r>
              <a:rPr dirty="0" sz="1700" spc="-95" b="0">
                <a:latin typeface="Verdana"/>
                <a:cs typeface="Verdana"/>
              </a:rPr>
              <a:t> </a:t>
            </a:r>
            <a:r>
              <a:rPr dirty="0" sz="1700" spc="-10" b="0">
                <a:latin typeface="Verdana"/>
                <a:cs typeface="Verdana"/>
              </a:rPr>
              <a:t>purchases.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535671" y="1632330"/>
            <a:ext cx="6456680" cy="5356860"/>
            <a:chOff x="7535671" y="1632330"/>
            <a:chExt cx="6456680" cy="5356860"/>
          </a:xfrm>
        </p:grpSpPr>
        <p:sp>
          <p:nvSpPr>
            <p:cNvPr id="10" name="object 10" descr=""/>
            <p:cNvSpPr/>
            <p:nvPr/>
          </p:nvSpPr>
          <p:spPr>
            <a:xfrm>
              <a:off x="7539481" y="1636140"/>
              <a:ext cx="6449060" cy="5349240"/>
            </a:xfrm>
            <a:custGeom>
              <a:avLst/>
              <a:gdLst/>
              <a:ahLst/>
              <a:cxnLst/>
              <a:rect l="l" t="t" r="r" b="b"/>
              <a:pathLst>
                <a:path w="6449059" h="5349240">
                  <a:moveTo>
                    <a:pt x="6123685" y="0"/>
                  </a:moveTo>
                  <a:lnTo>
                    <a:pt x="324993" y="0"/>
                  </a:lnTo>
                  <a:lnTo>
                    <a:pt x="276976" y="3521"/>
                  </a:lnTo>
                  <a:lnTo>
                    <a:pt x="231144" y="13752"/>
                  </a:lnTo>
                  <a:lnTo>
                    <a:pt x="188000" y="30191"/>
                  </a:lnTo>
                  <a:lnTo>
                    <a:pt x="148047" y="52335"/>
                  </a:lnTo>
                  <a:lnTo>
                    <a:pt x="111789" y="79685"/>
                  </a:lnTo>
                  <a:lnTo>
                    <a:pt x="79728" y="111737"/>
                  </a:lnTo>
                  <a:lnTo>
                    <a:pt x="52367" y="147991"/>
                  </a:lnTo>
                  <a:lnTo>
                    <a:pt x="30211" y="187945"/>
                  </a:lnTo>
                  <a:lnTo>
                    <a:pt x="13762" y="231098"/>
                  </a:lnTo>
                  <a:lnTo>
                    <a:pt x="3524" y="276947"/>
                  </a:lnTo>
                  <a:lnTo>
                    <a:pt x="0" y="324992"/>
                  </a:lnTo>
                  <a:lnTo>
                    <a:pt x="0" y="5023738"/>
                  </a:lnTo>
                  <a:lnTo>
                    <a:pt x="3524" y="5071754"/>
                  </a:lnTo>
                  <a:lnTo>
                    <a:pt x="13762" y="5117584"/>
                  </a:lnTo>
                  <a:lnTo>
                    <a:pt x="30211" y="5160724"/>
                  </a:lnTo>
                  <a:lnTo>
                    <a:pt x="52367" y="5200672"/>
                  </a:lnTo>
                  <a:lnTo>
                    <a:pt x="79728" y="5236926"/>
                  </a:lnTo>
                  <a:lnTo>
                    <a:pt x="111789" y="5268982"/>
                  </a:lnTo>
                  <a:lnTo>
                    <a:pt x="148047" y="5296337"/>
                  </a:lnTo>
                  <a:lnTo>
                    <a:pt x="188000" y="5318489"/>
                  </a:lnTo>
                  <a:lnTo>
                    <a:pt x="231144" y="5334934"/>
                  </a:lnTo>
                  <a:lnTo>
                    <a:pt x="276976" y="5345170"/>
                  </a:lnTo>
                  <a:lnTo>
                    <a:pt x="324993" y="5348693"/>
                  </a:lnTo>
                  <a:lnTo>
                    <a:pt x="6123685" y="5348693"/>
                  </a:lnTo>
                  <a:lnTo>
                    <a:pt x="6171731" y="5345170"/>
                  </a:lnTo>
                  <a:lnTo>
                    <a:pt x="6217580" y="5334934"/>
                  </a:lnTo>
                  <a:lnTo>
                    <a:pt x="6260733" y="5318489"/>
                  </a:lnTo>
                  <a:lnTo>
                    <a:pt x="6300687" y="5296337"/>
                  </a:lnTo>
                  <a:lnTo>
                    <a:pt x="6336941" y="5268982"/>
                  </a:lnTo>
                  <a:lnTo>
                    <a:pt x="6368993" y="5236926"/>
                  </a:lnTo>
                  <a:lnTo>
                    <a:pt x="6396343" y="5200672"/>
                  </a:lnTo>
                  <a:lnTo>
                    <a:pt x="6418487" y="5160724"/>
                  </a:lnTo>
                  <a:lnTo>
                    <a:pt x="6434926" y="5117584"/>
                  </a:lnTo>
                  <a:lnTo>
                    <a:pt x="6445157" y="5071754"/>
                  </a:lnTo>
                  <a:lnTo>
                    <a:pt x="6448679" y="5023738"/>
                  </a:lnTo>
                  <a:lnTo>
                    <a:pt x="6448679" y="324992"/>
                  </a:lnTo>
                  <a:lnTo>
                    <a:pt x="6445157" y="276947"/>
                  </a:lnTo>
                  <a:lnTo>
                    <a:pt x="6434926" y="231098"/>
                  </a:lnTo>
                  <a:lnTo>
                    <a:pt x="6418487" y="187945"/>
                  </a:lnTo>
                  <a:lnTo>
                    <a:pt x="6396343" y="147991"/>
                  </a:lnTo>
                  <a:lnTo>
                    <a:pt x="6368993" y="111737"/>
                  </a:lnTo>
                  <a:lnTo>
                    <a:pt x="6336941" y="79685"/>
                  </a:lnTo>
                  <a:lnTo>
                    <a:pt x="6300687" y="52335"/>
                  </a:lnTo>
                  <a:lnTo>
                    <a:pt x="6260733" y="30191"/>
                  </a:lnTo>
                  <a:lnTo>
                    <a:pt x="6217580" y="13752"/>
                  </a:lnTo>
                  <a:lnTo>
                    <a:pt x="6171731" y="3521"/>
                  </a:lnTo>
                  <a:lnTo>
                    <a:pt x="6123685" y="0"/>
                  </a:lnTo>
                  <a:close/>
                </a:path>
              </a:pathLst>
            </a:custGeom>
            <a:solidFill>
              <a:srgbClr val="D3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39481" y="1636140"/>
              <a:ext cx="6449060" cy="5349240"/>
            </a:xfrm>
            <a:custGeom>
              <a:avLst/>
              <a:gdLst/>
              <a:ahLst/>
              <a:cxnLst/>
              <a:rect l="l" t="t" r="r" b="b"/>
              <a:pathLst>
                <a:path w="6449059" h="5349240">
                  <a:moveTo>
                    <a:pt x="0" y="324992"/>
                  </a:moveTo>
                  <a:lnTo>
                    <a:pt x="3524" y="276947"/>
                  </a:lnTo>
                  <a:lnTo>
                    <a:pt x="13762" y="231098"/>
                  </a:lnTo>
                  <a:lnTo>
                    <a:pt x="30211" y="187945"/>
                  </a:lnTo>
                  <a:lnTo>
                    <a:pt x="52367" y="147991"/>
                  </a:lnTo>
                  <a:lnTo>
                    <a:pt x="79728" y="111737"/>
                  </a:lnTo>
                  <a:lnTo>
                    <a:pt x="111789" y="79685"/>
                  </a:lnTo>
                  <a:lnTo>
                    <a:pt x="148047" y="52335"/>
                  </a:lnTo>
                  <a:lnTo>
                    <a:pt x="188000" y="30191"/>
                  </a:lnTo>
                  <a:lnTo>
                    <a:pt x="231144" y="13752"/>
                  </a:lnTo>
                  <a:lnTo>
                    <a:pt x="276976" y="3521"/>
                  </a:lnTo>
                  <a:lnTo>
                    <a:pt x="324993" y="0"/>
                  </a:lnTo>
                  <a:lnTo>
                    <a:pt x="6123685" y="0"/>
                  </a:lnTo>
                  <a:lnTo>
                    <a:pt x="6171731" y="3521"/>
                  </a:lnTo>
                  <a:lnTo>
                    <a:pt x="6217580" y="13752"/>
                  </a:lnTo>
                  <a:lnTo>
                    <a:pt x="6260733" y="30191"/>
                  </a:lnTo>
                  <a:lnTo>
                    <a:pt x="6300687" y="52335"/>
                  </a:lnTo>
                  <a:lnTo>
                    <a:pt x="6336941" y="79685"/>
                  </a:lnTo>
                  <a:lnTo>
                    <a:pt x="6368993" y="111737"/>
                  </a:lnTo>
                  <a:lnTo>
                    <a:pt x="6396343" y="147991"/>
                  </a:lnTo>
                  <a:lnTo>
                    <a:pt x="6418487" y="187945"/>
                  </a:lnTo>
                  <a:lnTo>
                    <a:pt x="6434926" y="231098"/>
                  </a:lnTo>
                  <a:lnTo>
                    <a:pt x="6445157" y="276947"/>
                  </a:lnTo>
                  <a:lnTo>
                    <a:pt x="6448679" y="324992"/>
                  </a:lnTo>
                  <a:lnTo>
                    <a:pt x="6448679" y="5023738"/>
                  </a:lnTo>
                  <a:lnTo>
                    <a:pt x="6445157" y="5071754"/>
                  </a:lnTo>
                  <a:lnTo>
                    <a:pt x="6434926" y="5117584"/>
                  </a:lnTo>
                  <a:lnTo>
                    <a:pt x="6418487" y="5160724"/>
                  </a:lnTo>
                  <a:lnTo>
                    <a:pt x="6396343" y="5200672"/>
                  </a:lnTo>
                  <a:lnTo>
                    <a:pt x="6368993" y="5236926"/>
                  </a:lnTo>
                  <a:lnTo>
                    <a:pt x="6336941" y="5268982"/>
                  </a:lnTo>
                  <a:lnTo>
                    <a:pt x="6300687" y="5296337"/>
                  </a:lnTo>
                  <a:lnTo>
                    <a:pt x="6260733" y="5318489"/>
                  </a:lnTo>
                  <a:lnTo>
                    <a:pt x="6217580" y="5334934"/>
                  </a:lnTo>
                  <a:lnTo>
                    <a:pt x="6171731" y="5345170"/>
                  </a:lnTo>
                  <a:lnTo>
                    <a:pt x="6123685" y="5348693"/>
                  </a:lnTo>
                  <a:lnTo>
                    <a:pt x="324993" y="5348693"/>
                  </a:lnTo>
                  <a:lnTo>
                    <a:pt x="276976" y="5345170"/>
                  </a:lnTo>
                  <a:lnTo>
                    <a:pt x="231144" y="5334934"/>
                  </a:lnTo>
                  <a:lnTo>
                    <a:pt x="188000" y="5318489"/>
                  </a:lnTo>
                  <a:lnTo>
                    <a:pt x="148047" y="5296337"/>
                  </a:lnTo>
                  <a:lnTo>
                    <a:pt x="111789" y="5268982"/>
                  </a:lnTo>
                  <a:lnTo>
                    <a:pt x="79728" y="5236926"/>
                  </a:lnTo>
                  <a:lnTo>
                    <a:pt x="52367" y="5200672"/>
                  </a:lnTo>
                  <a:lnTo>
                    <a:pt x="30211" y="5160724"/>
                  </a:lnTo>
                  <a:lnTo>
                    <a:pt x="13762" y="5117584"/>
                  </a:lnTo>
                  <a:lnTo>
                    <a:pt x="3524" y="5071754"/>
                  </a:lnTo>
                  <a:lnTo>
                    <a:pt x="0" y="5023738"/>
                  </a:lnTo>
                  <a:lnTo>
                    <a:pt x="0" y="324992"/>
                  </a:lnTo>
                  <a:close/>
                </a:path>
              </a:pathLst>
            </a:custGeom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63763" y="1860321"/>
              <a:ext cx="649960" cy="64996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48598" y="2084330"/>
              <a:ext cx="280229" cy="201948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7751826" y="2569521"/>
            <a:ext cx="5858510" cy="3808729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2650" spc="-170" b="1">
                <a:solidFill>
                  <a:srgbClr val="384652"/>
                </a:solidFill>
                <a:latin typeface="Tahoma"/>
                <a:cs typeface="Tahoma"/>
              </a:rPr>
              <a:t>2.</a:t>
            </a:r>
            <a:r>
              <a:rPr dirty="0" sz="2650" spc="-200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2650" spc="-170" b="1">
                <a:solidFill>
                  <a:srgbClr val="384652"/>
                </a:solidFill>
                <a:latin typeface="Tahoma"/>
                <a:cs typeface="Tahoma"/>
              </a:rPr>
              <a:t>Launch</a:t>
            </a:r>
            <a:r>
              <a:rPr dirty="0" sz="2650" spc="-195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2650" spc="-185" b="1">
                <a:solidFill>
                  <a:srgbClr val="384652"/>
                </a:solidFill>
                <a:latin typeface="Tahoma"/>
                <a:cs typeface="Tahoma"/>
              </a:rPr>
              <a:t>Re-</a:t>
            </a:r>
            <a:r>
              <a:rPr dirty="0" sz="2650" spc="-210" b="1">
                <a:solidFill>
                  <a:srgbClr val="384652"/>
                </a:solidFill>
                <a:latin typeface="Tahoma"/>
                <a:cs typeface="Tahoma"/>
              </a:rPr>
              <a:t>engagement</a:t>
            </a:r>
            <a:r>
              <a:rPr dirty="0" sz="2650" spc="-229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2650" spc="-60" b="1">
                <a:solidFill>
                  <a:srgbClr val="384652"/>
                </a:solidFill>
                <a:latin typeface="Tahoma"/>
                <a:cs typeface="Tahoma"/>
              </a:rPr>
              <a:t>Campaigns</a:t>
            </a:r>
            <a:endParaRPr sz="265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865"/>
              </a:spcBef>
            </a:pPr>
            <a:r>
              <a:rPr dirty="0" sz="2200" spc="-165" b="1">
                <a:solidFill>
                  <a:srgbClr val="384652"/>
                </a:solidFill>
                <a:latin typeface="Tahoma"/>
                <a:cs typeface="Tahoma"/>
              </a:rPr>
              <a:t>Target </a:t>
            </a:r>
            <a:r>
              <a:rPr dirty="0" sz="2200" spc="-170" b="1">
                <a:solidFill>
                  <a:srgbClr val="384652"/>
                </a:solidFill>
                <a:latin typeface="Tahoma"/>
                <a:cs typeface="Tahoma"/>
              </a:rPr>
              <a:t>Inactive</a:t>
            </a:r>
            <a:r>
              <a:rPr dirty="0" sz="2200" spc="-145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2200" spc="-10" b="1">
                <a:solidFill>
                  <a:srgbClr val="384652"/>
                </a:solidFill>
                <a:latin typeface="Tahoma"/>
                <a:cs typeface="Tahoma"/>
              </a:rPr>
              <a:t>Users</a:t>
            </a:r>
            <a:endParaRPr sz="22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1614"/>
              </a:spcBef>
            </a:pPr>
            <a:r>
              <a:rPr dirty="0" sz="1700" spc="-85" b="1">
                <a:solidFill>
                  <a:srgbClr val="384652"/>
                </a:solidFill>
                <a:latin typeface="Verdana"/>
                <a:cs typeface="Verdana"/>
              </a:rPr>
              <a:t>Current:</a:t>
            </a:r>
            <a:r>
              <a:rPr dirty="0" sz="1700" spc="-70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114">
                <a:solidFill>
                  <a:srgbClr val="384652"/>
                </a:solidFill>
                <a:latin typeface="Verdana"/>
                <a:cs typeface="Verdana"/>
              </a:rPr>
              <a:t>MAU</a:t>
            </a:r>
            <a:r>
              <a:rPr dirty="0" sz="1700" spc="-9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declined</a:t>
            </a:r>
            <a:r>
              <a:rPr dirty="0" sz="1700" spc="-7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from</a:t>
            </a:r>
            <a:r>
              <a:rPr dirty="0" sz="1700" spc="-10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20">
                <a:solidFill>
                  <a:srgbClr val="384652"/>
                </a:solidFill>
                <a:latin typeface="Verdana"/>
                <a:cs typeface="Verdana"/>
              </a:rPr>
              <a:t>~55</a:t>
            </a:r>
            <a:r>
              <a:rPr dirty="0" sz="1700" spc="-8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384652"/>
                </a:solidFill>
                <a:latin typeface="Verdana"/>
                <a:cs typeface="Verdana"/>
              </a:rPr>
              <a:t>users</a:t>
            </a:r>
            <a:r>
              <a:rPr dirty="0" sz="170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at</a:t>
            </a:r>
            <a:r>
              <a:rPr dirty="0" sz="1700" spc="-9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peak</a:t>
            </a:r>
            <a:r>
              <a:rPr dirty="0" sz="1700" spc="-10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to</a:t>
            </a:r>
            <a:r>
              <a:rPr dirty="0" sz="1700" spc="-8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60">
                <a:solidFill>
                  <a:srgbClr val="384652"/>
                </a:solidFill>
                <a:latin typeface="Verdana"/>
                <a:cs typeface="Verdana"/>
              </a:rPr>
              <a:t>~35–</a:t>
            </a:r>
            <a:endParaRPr sz="17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665"/>
              </a:spcBef>
            </a:pP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40</a:t>
            </a:r>
            <a:r>
              <a:rPr dirty="0" sz="1700" spc="-10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users</a:t>
            </a:r>
            <a:r>
              <a:rPr dirty="0" sz="1700" spc="-7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recently.</a:t>
            </a:r>
            <a:endParaRPr sz="1700">
              <a:latin typeface="Verdana"/>
              <a:cs typeface="Verdana"/>
            </a:endParaRPr>
          </a:p>
          <a:p>
            <a:pPr algn="just" marL="12700" marR="334010">
              <a:lnSpc>
                <a:spcPct val="132400"/>
              </a:lnSpc>
              <a:spcBef>
                <a:spcPts val="1080"/>
              </a:spcBef>
            </a:pPr>
            <a:r>
              <a:rPr dirty="0" sz="1700" spc="-85" b="1">
                <a:solidFill>
                  <a:srgbClr val="384652"/>
                </a:solidFill>
                <a:latin typeface="Verdana"/>
                <a:cs typeface="Verdana"/>
              </a:rPr>
              <a:t>Action:</a:t>
            </a:r>
            <a:r>
              <a:rPr dirty="0" sz="1700" spc="-35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Marketing</a:t>
            </a:r>
            <a:r>
              <a:rPr dirty="0" sz="1700" spc="-3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team</a:t>
            </a:r>
            <a:r>
              <a:rPr dirty="0" sz="1700" spc="-4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should</a:t>
            </a:r>
            <a:r>
              <a:rPr dirty="0" sz="1700" spc="-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run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55">
                <a:solidFill>
                  <a:srgbClr val="384652"/>
                </a:solidFill>
                <a:latin typeface="Verdana"/>
                <a:cs typeface="Verdana"/>
              </a:rPr>
              <a:t>"</a:t>
            </a:r>
            <a:r>
              <a:rPr dirty="0" sz="1700" spc="-55" b="1">
                <a:solidFill>
                  <a:srgbClr val="384652"/>
                </a:solidFill>
                <a:latin typeface="Verdana"/>
                <a:cs typeface="Verdana"/>
              </a:rPr>
              <a:t>We</a:t>
            </a:r>
            <a:r>
              <a:rPr dirty="0" sz="1700" spc="35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90" b="1">
                <a:solidFill>
                  <a:srgbClr val="384652"/>
                </a:solidFill>
                <a:latin typeface="Verdana"/>
                <a:cs typeface="Verdana"/>
              </a:rPr>
              <a:t>Miss</a:t>
            </a:r>
            <a:r>
              <a:rPr dirty="0" sz="1700" spc="20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35" b="1">
                <a:solidFill>
                  <a:srgbClr val="384652"/>
                </a:solidFill>
                <a:latin typeface="Verdana"/>
                <a:cs typeface="Verdana"/>
              </a:rPr>
              <a:t>You</a:t>
            </a:r>
            <a:r>
              <a:rPr dirty="0" sz="1700" spc="-35">
                <a:solidFill>
                  <a:srgbClr val="384652"/>
                </a:solidFill>
                <a:latin typeface="Verdana"/>
                <a:cs typeface="Verdana"/>
              </a:rPr>
              <a:t>"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campaigns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targeting</a:t>
            </a:r>
            <a:r>
              <a:rPr dirty="0" sz="1700" spc="-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customers inactive</a:t>
            </a:r>
            <a:r>
              <a:rPr dirty="0" sz="1700" spc="2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384652"/>
                </a:solidFill>
                <a:latin typeface="Verdana"/>
                <a:cs typeface="Verdana"/>
              </a:rPr>
              <a:t>for</a:t>
            </a:r>
            <a:r>
              <a:rPr dirty="0" sz="1700" spc="2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45–60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days</a:t>
            </a:r>
            <a:r>
              <a:rPr dirty="0" sz="1700" spc="-7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using</a:t>
            </a:r>
            <a:r>
              <a:rPr dirty="0" sz="1700" spc="-7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Email/SMS.</a:t>
            </a:r>
            <a:endParaRPr sz="17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1770"/>
              </a:spcBef>
            </a:pPr>
            <a:r>
              <a:rPr dirty="0" sz="1700" spc="-50" b="1">
                <a:solidFill>
                  <a:srgbClr val="384652"/>
                </a:solidFill>
                <a:latin typeface="Verdana"/>
                <a:cs typeface="Verdana"/>
              </a:rPr>
              <a:t>Expected</a:t>
            </a:r>
            <a:r>
              <a:rPr dirty="0" sz="1700" spc="-90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20" b="1">
                <a:solidFill>
                  <a:srgbClr val="384652"/>
                </a:solidFill>
                <a:latin typeface="Verdana"/>
                <a:cs typeface="Verdana"/>
              </a:rPr>
              <a:t>Impact:</a:t>
            </a:r>
            <a:r>
              <a:rPr dirty="0" sz="1700" spc="-100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Reactivation</a:t>
            </a:r>
            <a:r>
              <a:rPr dirty="0" sz="1700" spc="-14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of</a:t>
            </a:r>
            <a:r>
              <a:rPr dirty="0" sz="1700" spc="-1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inactive</a:t>
            </a:r>
            <a:r>
              <a:rPr dirty="0" sz="1700" spc="-114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users</a:t>
            </a:r>
            <a:r>
              <a:rPr dirty="0" sz="1700" spc="-9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and</a:t>
            </a:r>
            <a:endParaRPr sz="1700">
              <a:latin typeface="Verdana"/>
              <a:cs typeface="Verdana"/>
            </a:endParaRPr>
          </a:p>
          <a:p>
            <a:pPr algn="just" marL="12700">
              <a:lnSpc>
                <a:spcPct val="100000"/>
              </a:lnSpc>
              <a:spcBef>
                <a:spcPts val="665"/>
              </a:spcBef>
            </a:pP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stabilization</a:t>
            </a:r>
            <a:r>
              <a:rPr dirty="0" sz="1700" spc="-14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of</a:t>
            </a:r>
            <a:r>
              <a:rPr dirty="0" sz="1700" spc="-12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384652"/>
                </a:solidFill>
                <a:latin typeface="Verdana"/>
                <a:cs typeface="Verdana"/>
              </a:rPr>
              <a:t>MAU.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0"/>
            <a:ext cx="14624050" cy="7798434"/>
            <a:chOff x="0" y="0"/>
            <a:chExt cx="14624050" cy="7798434"/>
          </a:xfrm>
        </p:grpSpPr>
        <p:sp>
          <p:nvSpPr>
            <p:cNvPr id="16" name="object 16" descr=""/>
            <p:cNvSpPr/>
            <p:nvPr/>
          </p:nvSpPr>
          <p:spPr>
            <a:xfrm>
              <a:off x="6350" y="6350"/>
              <a:ext cx="14611350" cy="7785734"/>
            </a:xfrm>
            <a:custGeom>
              <a:avLst/>
              <a:gdLst/>
              <a:ahLst/>
              <a:cxnLst/>
              <a:rect l="l" t="t" r="r" b="b"/>
              <a:pathLst>
                <a:path w="14611350" h="7785734">
                  <a:moveTo>
                    <a:pt x="14611350" y="0"/>
                  </a:moveTo>
                  <a:lnTo>
                    <a:pt x="0" y="0"/>
                  </a:lnTo>
                  <a:lnTo>
                    <a:pt x="0" y="7785709"/>
                  </a:lnTo>
                  <a:lnTo>
                    <a:pt x="14611350" y="7785709"/>
                  </a:lnTo>
                  <a:lnTo>
                    <a:pt x="1461135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350" y="6350"/>
              <a:ext cx="14611350" cy="7785734"/>
            </a:xfrm>
            <a:custGeom>
              <a:avLst/>
              <a:gdLst/>
              <a:ahLst/>
              <a:cxnLst/>
              <a:rect l="l" t="t" r="r" b="b"/>
              <a:pathLst>
                <a:path w="14611350" h="7785734">
                  <a:moveTo>
                    <a:pt x="0" y="7785709"/>
                  </a:moveTo>
                  <a:lnTo>
                    <a:pt x="14611350" y="7785709"/>
                  </a:lnTo>
                  <a:lnTo>
                    <a:pt x="14611350" y="0"/>
                  </a:lnTo>
                  <a:lnTo>
                    <a:pt x="0" y="0"/>
                  </a:lnTo>
                  <a:lnTo>
                    <a:pt x="0" y="7785709"/>
                  </a:lnTo>
                  <a:close/>
                </a:path>
              </a:pathLst>
            </a:custGeom>
            <a:ln w="12700">
              <a:solidFill>
                <a:srgbClr val="00A5E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0664" rIns="0" bIns="0" rtlCol="0" vert="horz">
            <a:spAutoFit/>
          </a:bodyPr>
          <a:lstStyle/>
          <a:p>
            <a:pPr marL="180975">
              <a:lnSpc>
                <a:spcPct val="100000"/>
              </a:lnSpc>
              <a:spcBef>
                <a:spcPts val="100"/>
              </a:spcBef>
            </a:pPr>
            <a:r>
              <a:rPr dirty="0" spc="-320"/>
              <a:t>Recommendations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78700" y="1928367"/>
            <a:ext cx="6456680" cy="4994910"/>
            <a:chOff x="978700" y="1928367"/>
            <a:chExt cx="6456680" cy="4994910"/>
          </a:xfrm>
        </p:grpSpPr>
        <p:sp>
          <p:nvSpPr>
            <p:cNvPr id="4" name="object 4" descr=""/>
            <p:cNvSpPr/>
            <p:nvPr/>
          </p:nvSpPr>
          <p:spPr>
            <a:xfrm>
              <a:off x="982510" y="1932177"/>
              <a:ext cx="6449060" cy="4987290"/>
            </a:xfrm>
            <a:custGeom>
              <a:avLst/>
              <a:gdLst/>
              <a:ahLst/>
              <a:cxnLst/>
              <a:rect l="l" t="t" r="r" b="b"/>
              <a:pathLst>
                <a:path w="6449059" h="4987290">
                  <a:moveTo>
                    <a:pt x="6123520" y="0"/>
                  </a:moveTo>
                  <a:lnTo>
                    <a:pt x="324954" y="0"/>
                  </a:lnTo>
                  <a:lnTo>
                    <a:pt x="276936" y="3524"/>
                  </a:lnTo>
                  <a:lnTo>
                    <a:pt x="231105" y="13762"/>
                  </a:lnTo>
                  <a:lnTo>
                    <a:pt x="187963" y="30211"/>
                  </a:lnTo>
                  <a:lnTo>
                    <a:pt x="148015" y="52367"/>
                  </a:lnTo>
                  <a:lnTo>
                    <a:pt x="111762" y="79728"/>
                  </a:lnTo>
                  <a:lnTo>
                    <a:pt x="79707" y="111789"/>
                  </a:lnTo>
                  <a:lnTo>
                    <a:pt x="52353" y="148047"/>
                  </a:lnTo>
                  <a:lnTo>
                    <a:pt x="30202" y="188000"/>
                  </a:lnTo>
                  <a:lnTo>
                    <a:pt x="13758" y="231144"/>
                  </a:lnTo>
                  <a:lnTo>
                    <a:pt x="3523" y="276976"/>
                  </a:lnTo>
                  <a:lnTo>
                    <a:pt x="0" y="324993"/>
                  </a:lnTo>
                  <a:lnTo>
                    <a:pt x="0" y="4661789"/>
                  </a:lnTo>
                  <a:lnTo>
                    <a:pt x="3523" y="4709805"/>
                  </a:lnTo>
                  <a:lnTo>
                    <a:pt x="13758" y="4755637"/>
                  </a:lnTo>
                  <a:lnTo>
                    <a:pt x="30202" y="4798781"/>
                  </a:lnTo>
                  <a:lnTo>
                    <a:pt x="52353" y="4838734"/>
                  </a:lnTo>
                  <a:lnTo>
                    <a:pt x="79707" y="4874992"/>
                  </a:lnTo>
                  <a:lnTo>
                    <a:pt x="111762" y="4907053"/>
                  </a:lnTo>
                  <a:lnTo>
                    <a:pt x="148015" y="4934414"/>
                  </a:lnTo>
                  <a:lnTo>
                    <a:pt x="187963" y="4956570"/>
                  </a:lnTo>
                  <a:lnTo>
                    <a:pt x="231105" y="4973019"/>
                  </a:lnTo>
                  <a:lnTo>
                    <a:pt x="276936" y="4983257"/>
                  </a:lnTo>
                  <a:lnTo>
                    <a:pt x="324954" y="4986782"/>
                  </a:lnTo>
                  <a:lnTo>
                    <a:pt x="6123520" y="4986782"/>
                  </a:lnTo>
                  <a:lnTo>
                    <a:pt x="6171566" y="4983257"/>
                  </a:lnTo>
                  <a:lnTo>
                    <a:pt x="6217415" y="4973019"/>
                  </a:lnTo>
                  <a:lnTo>
                    <a:pt x="6260568" y="4956570"/>
                  </a:lnTo>
                  <a:lnTo>
                    <a:pt x="6300522" y="4934414"/>
                  </a:lnTo>
                  <a:lnTo>
                    <a:pt x="6336776" y="4907053"/>
                  </a:lnTo>
                  <a:lnTo>
                    <a:pt x="6368828" y="4874992"/>
                  </a:lnTo>
                  <a:lnTo>
                    <a:pt x="6396178" y="4838734"/>
                  </a:lnTo>
                  <a:lnTo>
                    <a:pt x="6418322" y="4798781"/>
                  </a:lnTo>
                  <a:lnTo>
                    <a:pt x="6434761" y="4755637"/>
                  </a:lnTo>
                  <a:lnTo>
                    <a:pt x="6444992" y="4709805"/>
                  </a:lnTo>
                  <a:lnTo>
                    <a:pt x="6448513" y="4661789"/>
                  </a:lnTo>
                  <a:lnTo>
                    <a:pt x="6448513" y="324993"/>
                  </a:lnTo>
                  <a:lnTo>
                    <a:pt x="6444992" y="276976"/>
                  </a:lnTo>
                  <a:lnTo>
                    <a:pt x="6434761" y="231144"/>
                  </a:lnTo>
                  <a:lnTo>
                    <a:pt x="6418322" y="188000"/>
                  </a:lnTo>
                  <a:lnTo>
                    <a:pt x="6396178" y="148047"/>
                  </a:lnTo>
                  <a:lnTo>
                    <a:pt x="6368828" y="111789"/>
                  </a:lnTo>
                  <a:lnTo>
                    <a:pt x="6336776" y="79728"/>
                  </a:lnTo>
                  <a:lnTo>
                    <a:pt x="6300522" y="52367"/>
                  </a:lnTo>
                  <a:lnTo>
                    <a:pt x="6260568" y="30211"/>
                  </a:lnTo>
                  <a:lnTo>
                    <a:pt x="6217415" y="13762"/>
                  </a:lnTo>
                  <a:lnTo>
                    <a:pt x="6171566" y="3524"/>
                  </a:lnTo>
                  <a:lnTo>
                    <a:pt x="6123520" y="0"/>
                  </a:lnTo>
                  <a:close/>
                </a:path>
              </a:pathLst>
            </a:custGeom>
            <a:solidFill>
              <a:srgbClr val="D3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2510" y="1932177"/>
              <a:ext cx="6449060" cy="4987290"/>
            </a:xfrm>
            <a:custGeom>
              <a:avLst/>
              <a:gdLst/>
              <a:ahLst/>
              <a:cxnLst/>
              <a:rect l="l" t="t" r="r" b="b"/>
              <a:pathLst>
                <a:path w="6449059" h="4987290">
                  <a:moveTo>
                    <a:pt x="0" y="324993"/>
                  </a:moveTo>
                  <a:lnTo>
                    <a:pt x="3523" y="276976"/>
                  </a:lnTo>
                  <a:lnTo>
                    <a:pt x="13758" y="231144"/>
                  </a:lnTo>
                  <a:lnTo>
                    <a:pt x="30202" y="188000"/>
                  </a:lnTo>
                  <a:lnTo>
                    <a:pt x="52353" y="148047"/>
                  </a:lnTo>
                  <a:lnTo>
                    <a:pt x="79707" y="111789"/>
                  </a:lnTo>
                  <a:lnTo>
                    <a:pt x="111762" y="79728"/>
                  </a:lnTo>
                  <a:lnTo>
                    <a:pt x="148015" y="52367"/>
                  </a:lnTo>
                  <a:lnTo>
                    <a:pt x="187963" y="30211"/>
                  </a:lnTo>
                  <a:lnTo>
                    <a:pt x="231105" y="13762"/>
                  </a:lnTo>
                  <a:lnTo>
                    <a:pt x="276936" y="3524"/>
                  </a:lnTo>
                  <a:lnTo>
                    <a:pt x="324954" y="0"/>
                  </a:lnTo>
                  <a:lnTo>
                    <a:pt x="6123520" y="0"/>
                  </a:lnTo>
                  <a:lnTo>
                    <a:pt x="6171566" y="3524"/>
                  </a:lnTo>
                  <a:lnTo>
                    <a:pt x="6217415" y="13762"/>
                  </a:lnTo>
                  <a:lnTo>
                    <a:pt x="6260568" y="30211"/>
                  </a:lnTo>
                  <a:lnTo>
                    <a:pt x="6300522" y="52367"/>
                  </a:lnTo>
                  <a:lnTo>
                    <a:pt x="6336776" y="79728"/>
                  </a:lnTo>
                  <a:lnTo>
                    <a:pt x="6368828" y="111789"/>
                  </a:lnTo>
                  <a:lnTo>
                    <a:pt x="6396178" y="148047"/>
                  </a:lnTo>
                  <a:lnTo>
                    <a:pt x="6418322" y="188000"/>
                  </a:lnTo>
                  <a:lnTo>
                    <a:pt x="6434761" y="231144"/>
                  </a:lnTo>
                  <a:lnTo>
                    <a:pt x="6444992" y="276976"/>
                  </a:lnTo>
                  <a:lnTo>
                    <a:pt x="6448513" y="324993"/>
                  </a:lnTo>
                  <a:lnTo>
                    <a:pt x="6448513" y="4661789"/>
                  </a:lnTo>
                  <a:lnTo>
                    <a:pt x="6444992" y="4709805"/>
                  </a:lnTo>
                  <a:lnTo>
                    <a:pt x="6434761" y="4755637"/>
                  </a:lnTo>
                  <a:lnTo>
                    <a:pt x="6418322" y="4798781"/>
                  </a:lnTo>
                  <a:lnTo>
                    <a:pt x="6396178" y="4838734"/>
                  </a:lnTo>
                  <a:lnTo>
                    <a:pt x="6368828" y="4874992"/>
                  </a:lnTo>
                  <a:lnTo>
                    <a:pt x="6336776" y="4907053"/>
                  </a:lnTo>
                  <a:lnTo>
                    <a:pt x="6300522" y="4934414"/>
                  </a:lnTo>
                  <a:lnTo>
                    <a:pt x="6260568" y="4956570"/>
                  </a:lnTo>
                  <a:lnTo>
                    <a:pt x="6217415" y="4973019"/>
                  </a:lnTo>
                  <a:lnTo>
                    <a:pt x="6171566" y="4983257"/>
                  </a:lnTo>
                  <a:lnTo>
                    <a:pt x="6123520" y="4986782"/>
                  </a:lnTo>
                  <a:lnTo>
                    <a:pt x="324954" y="4986782"/>
                  </a:lnTo>
                  <a:lnTo>
                    <a:pt x="276936" y="4983257"/>
                  </a:lnTo>
                  <a:lnTo>
                    <a:pt x="231105" y="4973019"/>
                  </a:lnTo>
                  <a:lnTo>
                    <a:pt x="187963" y="4956570"/>
                  </a:lnTo>
                  <a:lnTo>
                    <a:pt x="148015" y="4934414"/>
                  </a:lnTo>
                  <a:lnTo>
                    <a:pt x="111762" y="4907053"/>
                  </a:lnTo>
                  <a:lnTo>
                    <a:pt x="79707" y="4874992"/>
                  </a:lnTo>
                  <a:lnTo>
                    <a:pt x="52353" y="4838734"/>
                  </a:lnTo>
                  <a:lnTo>
                    <a:pt x="30202" y="4798781"/>
                  </a:lnTo>
                  <a:lnTo>
                    <a:pt x="13758" y="4755637"/>
                  </a:lnTo>
                  <a:lnTo>
                    <a:pt x="3523" y="4709805"/>
                  </a:lnTo>
                  <a:lnTo>
                    <a:pt x="0" y="4661789"/>
                  </a:lnTo>
                  <a:lnTo>
                    <a:pt x="0" y="324993"/>
                  </a:lnTo>
                  <a:close/>
                </a:path>
              </a:pathLst>
            </a:custGeom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6703" y="2156485"/>
              <a:ext cx="649960" cy="64996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1854" y="2341223"/>
              <a:ext cx="279621" cy="279983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194003" y="2998724"/>
            <a:ext cx="5958205" cy="429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95" b="1">
                <a:solidFill>
                  <a:srgbClr val="384652"/>
                </a:solidFill>
                <a:latin typeface="Tahoma"/>
                <a:cs typeface="Tahoma"/>
              </a:rPr>
              <a:t>3.</a:t>
            </a:r>
            <a:r>
              <a:rPr dirty="0" sz="2650" spc="-220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2650" spc="-160" b="1">
                <a:solidFill>
                  <a:srgbClr val="384652"/>
                </a:solidFill>
                <a:latin typeface="Tahoma"/>
                <a:cs typeface="Tahoma"/>
              </a:rPr>
              <a:t>Leverage</a:t>
            </a:r>
            <a:r>
              <a:rPr dirty="0" sz="2650" spc="-240" b="1">
                <a:solidFill>
                  <a:srgbClr val="384652"/>
                </a:solidFill>
                <a:latin typeface="Tahoma"/>
                <a:cs typeface="Tahoma"/>
              </a:rPr>
              <a:t> High</a:t>
            </a:r>
            <a:r>
              <a:rPr dirty="0" sz="2650" spc="-204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2650" spc="-185" b="1">
                <a:solidFill>
                  <a:srgbClr val="384652"/>
                </a:solidFill>
                <a:latin typeface="Tahoma"/>
                <a:cs typeface="Tahoma"/>
              </a:rPr>
              <a:t>Repeat</a:t>
            </a:r>
            <a:r>
              <a:rPr dirty="0" sz="2650" spc="-245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2650" spc="-185" b="1">
                <a:solidFill>
                  <a:srgbClr val="384652"/>
                </a:solidFill>
                <a:latin typeface="Tahoma"/>
                <a:cs typeface="Tahoma"/>
              </a:rPr>
              <a:t>Customer</a:t>
            </a:r>
            <a:r>
              <a:rPr dirty="0" sz="2650" spc="-215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2650" spc="-65" b="1">
                <a:solidFill>
                  <a:srgbClr val="384652"/>
                </a:solidFill>
                <a:latin typeface="Tahoma"/>
                <a:cs typeface="Tahoma"/>
              </a:rPr>
              <a:t>Base</a:t>
            </a:r>
            <a:endParaRPr sz="265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194003" y="3842252"/>
            <a:ext cx="5690235" cy="28168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241300">
              <a:lnSpc>
                <a:spcPct val="132400"/>
              </a:lnSpc>
              <a:spcBef>
                <a:spcPts val="105"/>
              </a:spcBef>
            </a:pPr>
            <a:r>
              <a:rPr dirty="0" sz="1700" spc="-85" b="1">
                <a:solidFill>
                  <a:srgbClr val="384652"/>
                </a:solidFill>
                <a:latin typeface="Verdana"/>
                <a:cs typeface="Verdana"/>
              </a:rPr>
              <a:t>Current:</a:t>
            </a:r>
            <a:r>
              <a:rPr dirty="0" sz="1700" spc="-90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384652"/>
                </a:solidFill>
                <a:latin typeface="Verdana"/>
                <a:cs typeface="Verdana"/>
              </a:rPr>
              <a:t>Over</a:t>
            </a:r>
            <a:r>
              <a:rPr dirty="0" sz="1700" spc="-1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90">
                <a:solidFill>
                  <a:srgbClr val="384652"/>
                </a:solidFill>
                <a:latin typeface="Verdana"/>
                <a:cs typeface="Verdana"/>
              </a:rPr>
              <a:t>97%</a:t>
            </a:r>
            <a:r>
              <a:rPr dirty="0" sz="1700" spc="-10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of</a:t>
            </a:r>
            <a:r>
              <a:rPr dirty="0" sz="1700" spc="-10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customers</a:t>
            </a:r>
            <a:r>
              <a:rPr dirty="0" sz="1700" spc="-1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are</a:t>
            </a:r>
            <a:r>
              <a:rPr dirty="0" sz="1700" spc="-12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repeat</a:t>
            </a:r>
            <a:r>
              <a:rPr dirty="0" sz="1700" spc="-13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buyers </a:t>
            </a:r>
            <a:r>
              <a:rPr dirty="0" sz="1700" spc="-254">
                <a:solidFill>
                  <a:srgbClr val="384652"/>
                </a:solidFill>
                <a:latin typeface="Verdana"/>
                <a:cs typeface="Verdana"/>
              </a:rPr>
              <a:t>(≈175</a:t>
            </a:r>
            <a:r>
              <a:rPr dirty="0" sz="1700" spc="-13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repeat</a:t>
            </a:r>
            <a:r>
              <a:rPr dirty="0" sz="1700" spc="-14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70">
                <a:solidFill>
                  <a:srgbClr val="384652"/>
                </a:solidFill>
                <a:latin typeface="Verdana"/>
                <a:cs typeface="Verdana"/>
              </a:rPr>
              <a:t>vs</a:t>
            </a:r>
            <a:r>
              <a:rPr dirty="0" sz="1700" spc="-10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25">
                <a:solidFill>
                  <a:srgbClr val="384652"/>
                </a:solidFill>
                <a:latin typeface="Verdana"/>
                <a:cs typeface="Verdana"/>
              </a:rPr>
              <a:t>5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one-</a:t>
            </a:r>
            <a:r>
              <a:rPr dirty="0" sz="1700" spc="-55">
                <a:solidFill>
                  <a:srgbClr val="384652"/>
                </a:solidFill>
                <a:latin typeface="Verdana"/>
                <a:cs typeface="Verdana"/>
              </a:rPr>
              <a:t>time),</a:t>
            </a:r>
            <a:r>
              <a:rPr dirty="0" sz="1700" spc="-14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55">
                <a:solidFill>
                  <a:srgbClr val="384652"/>
                </a:solidFill>
                <a:latin typeface="Verdana"/>
                <a:cs typeface="Verdana"/>
              </a:rPr>
              <a:t>but</a:t>
            </a:r>
            <a:r>
              <a:rPr dirty="0" sz="1700" spc="-1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overall</a:t>
            </a:r>
            <a:r>
              <a:rPr dirty="0" sz="1700" spc="-12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activity</a:t>
            </a:r>
            <a:r>
              <a:rPr dirty="0" sz="1700" spc="-12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is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declining.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ts val="1955"/>
              </a:lnSpc>
            </a:pPr>
            <a:r>
              <a:rPr dirty="0" sz="1700" spc="-75" b="1">
                <a:solidFill>
                  <a:srgbClr val="384652"/>
                </a:solidFill>
                <a:latin typeface="Verdana"/>
                <a:cs typeface="Verdana"/>
              </a:rPr>
              <a:t>Action:</a:t>
            </a:r>
            <a:r>
              <a:rPr dirty="0" sz="1700" spc="-105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Introduce</a:t>
            </a:r>
            <a:r>
              <a:rPr dirty="0" sz="1700" spc="-10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384652"/>
                </a:solidFill>
                <a:latin typeface="Verdana"/>
                <a:cs typeface="Verdana"/>
              </a:rPr>
              <a:t>loyalty</a:t>
            </a:r>
            <a:r>
              <a:rPr dirty="0" sz="1700" spc="-9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0">
                <a:solidFill>
                  <a:srgbClr val="384652"/>
                </a:solidFill>
                <a:latin typeface="Verdana"/>
                <a:cs typeface="Verdana"/>
              </a:rPr>
              <a:t>programs,</a:t>
            </a:r>
            <a:r>
              <a:rPr dirty="0" sz="1700" spc="-9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384652"/>
                </a:solidFill>
                <a:latin typeface="Verdana"/>
                <a:cs typeface="Verdana"/>
              </a:rPr>
              <a:t>referral</a:t>
            </a:r>
            <a:r>
              <a:rPr dirty="0" sz="1700" spc="-9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rewards,</a:t>
            </a:r>
            <a:endParaRPr sz="1700">
              <a:latin typeface="Verdana"/>
              <a:cs typeface="Verdana"/>
            </a:endParaRPr>
          </a:p>
          <a:p>
            <a:pPr marL="12700" marR="403860">
              <a:lnSpc>
                <a:spcPct val="132400"/>
              </a:lnSpc>
            </a:pP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and</a:t>
            </a:r>
            <a:r>
              <a:rPr dirty="0" sz="1700" spc="-8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personalized</a:t>
            </a:r>
            <a:r>
              <a:rPr dirty="0" sz="1700" spc="-7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offers</a:t>
            </a:r>
            <a:r>
              <a:rPr dirty="0" sz="1700" spc="-6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for</a:t>
            </a:r>
            <a:r>
              <a:rPr dirty="0" sz="170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existing</a:t>
            </a:r>
            <a:r>
              <a:rPr dirty="0" sz="170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customers</a:t>
            </a:r>
            <a:r>
              <a:rPr dirty="0" sz="1700" spc="-8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to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increase</a:t>
            </a:r>
            <a:r>
              <a:rPr dirty="0" sz="1700" spc="-9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purchase</a:t>
            </a:r>
            <a:r>
              <a:rPr dirty="0" sz="1700" spc="-8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frequency.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dirty="0" sz="1700" spc="-50" b="1">
                <a:solidFill>
                  <a:srgbClr val="384652"/>
                </a:solidFill>
                <a:latin typeface="Verdana"/>
                <a:cs typeface="Verdana"/>
              </a:rPr>
              <a:t>Expected</a:t>
            </a:r>
            <a:r>
              <a:rPr dirty="0" sz="1700" spc="20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14" b="1">
                <a:solidFill>
                  <a:srgbClr val="384652"/>
                </a:solidFill>
                <a:latin typeface="Verdana"/>
                <a:cs typeface="Verdana"/>
              </a:rPr>
              <a:t>Impact:</a:t>
            </a:r>
            <a:r>
              <a:rPr dirty="0" sz="1700" spc="5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Higher</a:t>
            </a:r>
            <a:r>
              <a:rPr dirty="0" sz="1700" spc="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Customer</a:t>
            </a:r>
            <a:r>
              <a:rPr dirty="0" sz="1700" spc="-3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Lifetime</a:t>
            </a:r>
            <a:r>
              <a:rPr dirty="0" sz="1700" spc="-3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Value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700" spc="-75">
                <a:solidFill>
                  <a:srgbClr val="384652"/>
                </a:solidFill>
                <a:latin typeface="Verdana"/>
                <a:cs typeface="Verdana"/>
              </a:rPr>
              <a:t>(CLV)</a:t>
            </a:r>
            <a:r>
              <a:rPr dirty="0" sz="1700" spc="-1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and</a:t>
            </a:r>
            <a:r>
              <a:rPr dirty="0" sz="1700" spc="-4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improved</a:t>
            </a:r>
            <a:r>
              <a:rPr dirty="0" sz="1700" spc="-3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retention</a:t>
            </a:r>
            <a:r>
              <a:rPr dirty="0" sz="1700" spc="-6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rates.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643748" y="1928367"/>
            <a:ext cx="6456680" cy="4994910"/>
            <a:chOff x="7643748" y="1928367"/>
            <a:chExt cx="6456680" cy="4994910"/>
          </a:xfrm>
        </p:grpSpPr>
        <p:sp>
          <p:nvSpPr>
            <p:cNvPr id="11" name="object 11" descr=""/>
            <p:cNvSpPr/>
            <p:nvPr/>
          </p:nvSpPr>
          <p:spPr>
            <a:xfrm>
              <a:off x="7647558" y="1932177"/>
              <a:ext cx="6449060" cy="4987290"/>
            </a:xfrm>
            <a:custGeom>
              <a:avLst/>
              <a:gdLst/>
              <a:ahLst/>
              <a:cxnLst/>
              <a:rect l="l" t="t" r="r" b="b"/>
              <a:pathLst>
                <a:path w="6449059" h="4987290">
                  <a:moveTo>
                    <a:pt x="6123685" y="0"/>
                  </a:moveTo>
                  <a:lnTo>
                    <a:pt x="324993" y="0"/>
                  </a:lnTo>
                  <a:lnTo>
                    <a:pt x="276976" y="3524"/>
                  </a:lnTo>
                  <a:lnTo>
                    <a:pt x="231144" y="13762"/>
                  </a:lnTo>
                  <a:lnTo>
                    <a:pt x="188000" y="30211"/>
                  </a:lnTo>
                  <a:lnTo>
                    <a:pt x="148047" y="52367"/>
                  </a:lnTo>
                  <a:lnTo>
                    <a:pt x="111789" y="79728"/>
                  </a:lnTo>
                  <a:lnTo>
                    <a:pt x="79728" y="111789"/>
                  </a:lnTo>
                  <a:lnTo>
                    <a:pt x="52367" y="148047"/>
                  </a:lnTo>
                  <a:lnTo>
                    <a:pt x="30211" y="188000"/>
                  </a:lnTo>
                  <a:lnTo>
                    <a:pt x="13762" y="231144"/>
                  </a:lnTo>
                  <a:lnTo>
                    <a:pt x="3524" y="276976"/>
                  </a:lnTo>
                  <a:lnTo>
                    <a:pt x="0" y="324993"/>
                  </a:lnTo>
                  <a:lnTo>
                    <a:pt x="0" y="4661916"/>
                  </a:lnTo>
                  <a:lnTo>
                    <a:pt x="3524" y="4709929"/>
                  </a:lnTo>
                  <a:lnTo>
                    <a:pt x="13762" y="4755753"/>
                  </a:lnTo>
                  <a:lnTo>
                    <a:pt x="30211" y="4798885"/>
                  </a:lnTo>
                  <a:lnTo>
                    <a:pt x="52367" y="4838823"/>
                  </a:lnTo>
                  <a:lnTo>
                    <a:pt x="79728" y="4875065"/>
                  </a:lnTo>
                  <a:lnTo>
                    <a:pt x="111789" y="4907108"/>
                  </a:lnTo>
                  <a:lnTo>
                    <a:pt x="148047" y="4934452"/>
                  </a:lnTo>
                  <a:lnTo>
                    <a:pt x="188000" y="4956593"/>
                  </a:lnTo>
                  <a:lnTo>
                    <a:pt x="231144" y="4973030"/>
                  </a:lnTo>
                  <a:lnTo>
                    <a:pt x="276976" y="4983260"/>
                  </a:lnTo>
                  <a:lnTo>
                    <a:pt x="324993" y="4986782"/>
                  </a:lnTo>
                  <a:lnTo>
                    <a:pt x="6123685" y="4986782"/>
                  </a:lnTo>
                  <a:lnTo>
                    <a:pt x="6171731" y="4983260"/>
                  </a:lnTo>
                  <a:lnTo>
                    <a:pt x="6217580" y="4973030"/>
                  </a:lnTo>
                  <a:lnTo>
                    <a:pt x="6260733" y="4956593"/>
                  </a:lnTo>
                  <a:lnTo>
                    <a:pt x="6300687" y="4934452"/>
                  </a:lnTo>
                  <a:lnTo>
                    <a:pt x="6336941" y="4907108"/>
                  </a:lnTo>
                  <a:lnTo>
                    <a:pt x="6368993" y="4875065"/>
                  </a:lnTo>
                  <a:lnTo>
                    <a:pt x="6396343" y="4838823"/>
                  </a:lnTo>
                  <a:lnTo>
                    <a:pt x="6418487" y="4798885"/>
                  </a:lnTo>
                  <a:lnTo>
                    <a:pt x="6434926" y="4755753"/>
                  </a:lnTo>
                  <a:lnTo>
                    <a:pt x="6445157" y="4709929"/>
                  </a:lnTo>
                  <a:lnTo>
                    <a:pt x="6448679" y="4661916"/>
                  </a:lnTo>
                  <a:lnTo>
                    <a:pt x="6448679" y="324993"/>
                  </a:lnTo>
                  <a:lnTo>
                    <a:pt x="6445157" y="276976"/>
                  </a:lnTo>
                  <a:lnTo>
                    <a:pt x="6434926" y="231144"/>
                  </a:lnTo>
                  <a:lnTo>
                    <a:pt x="6418487" y="188000"/>
                  </a:lnTo>
                  <a:lnTo>
                    <a:pt x="6396343" y="148047"/>
                  </a:lnTo>
                  <a:lnTo>
                    <a:pt x="6368993" y="111789"/>
                  </a:lnTo>
                  <a:lnTo>
                    <a:pt x="6336941" y="79728"/>
                  </a:lnTo>
                  <a:lnTo>
                    <a:pt x="6300687" y="52367"/>
                  </a:lnTo>
                  <a:lnTo>
                    <a:pt x="6260733" y="30211"/>
                  </a:lnTo>
                  <a:lnTo>
                    <a:pt x="6217580" y="13762"/>
                  </a:lnTo>
                  <a:lnTo>
                    <a:pt x="6171731" y="3524"/>
                  </a:lnTo>
                  <a:lnTo>
                    <a:pt x="6123685" y="0"/>
                  </a:lnTo>
                  <a:close/>
                </a:path>
              </a:pathLst>
            </a:custGeom>
            <a:solidFill>
              <a:srgbClr val="D3E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647558" y="1932177"/>
              <a:ext cx="6449060" cy="4987290"/>
            </a:xfrm>
            <a:custGeom>
              <a:avLst/>
              <a:gdLst/>
              <a:ahLst/>
              <a:cxnLst/>
              <a:rect l="l" t="t" r="r" b="b"/>
              <a:pathLst>
                <a:path w="6449059" h="4987290">
                  <a:moveTo>
                    <a:pt x="0" y="324993"/>
                  </a:moveTo>
                  <a:lnTo>
                    <a:pt x="3524" y="276976"/>
                  </a:lnTo>
                  <a:lnTo>
                    <a:pt x="13762" y="231144"/>
                  </a:lnTo>
                  <a:lnTo>
                    <a:pt x="30211" y="188000"/>
                  </a:lnTo>
                  <a:lnTo>
                    <a:pt x="52367" y="148047"/>
                  </a:lnTo>
                  <a:lnTo>
                    <a:pt x="79728" y="111789"/>
                  </a:lnTo>
                  <a:lnTo>
                    <a:pt x="111789" y="79728"/>
                  </a:lnTo>
                  <a:lnTo>
                    <a:pt x="148047" y="52367"/>
                  </a:lnTo>
                  <a:lnTo>
                    <a:pt x="188000" y="30211"/>
                  </a:lnTo>
                  <a:lnTo>
                    <a:pt x="231144" y="13762"/>
                  </a:lnTo>
                  <a:lnTo>
                    <a:pt x="276976" y="3524"/>
                  </a:lnTo>
                  <a:lnTo>
                    <a:pt x="324993" y="0"/>
                  </a:lnTo>
                  <a:lnTo>
                    <a:pt x="6123685" y="0"/>
                  </a:lnTo>
                  <a:lnTo>
                    <a:pt x="6171731" y="3524"/>
                  </a:lnTo>
                  <a:lnTo>
                    <a:pt x="6217580" y="13762"/>
                  </a:lnTo>
                  <a:lnTo>
                    <a:pt x="6260733" y="30211"/>
                  </a:lnTo>
                  <a:lnTo>
                    <a:pt x="6300687" y="52367"/>
                  </a:lnTo>
                  <a:lnTo>
                    <a:pt x="6336941" y="79728"/>
                  </a:lnTo>
                  <a:lnTo>
                    <a:pt x="6368993" y="111789"/>
                  </a:lnTo>
                  <a:lnTo>
                    <a:pt x="6396343" y="148047"/>
                  </a:lnTo>
                  <a:lnTo>
                    <a:pt x="6418487" y="188000"/>
                  </a:lnTo>
                  <a:lnTo>
                    <a:pt x="6434926" y="231144"/>
                  </a:lnTo>
                  <a:lnTo>
                    <a:pt x="6445157" y="276976"/>
                  </a:lnTo>
                  <a:lnTo>
                    <a:pt x="6448679" y="324993"/>
                  </a:lnTo>
                  <a:lnTo>
                    <a:pt x="6448679" y="4661916"/>
                  </a:lnTo>
                  <a:lnTo>
                    <a:pt x="6445157" y="4709929"/>
                  </a:lnTo>
                  <a:lnTo>
                    <a:pt x="6434926" y="4755753"/>
                  </a:lnTo>
                  <a:lnTo>
                    <a:pt x="6418487" y="4798885"/>
                  </a:lnTo>
                  <a:lnTo>
                    <a:pt x="6396343" y="4838823"/>
                  </a:lnTo>
                  <a:lnTo>
                    <a:pt x="6368993" y="4875065"/>
                  </a:lnTo>
                  <a:lnTo>
                    <a:pt x="6336941" y="4907108"/>
                  </a:lnTo>
                  <a:lnTo>
                    <a:pt x="6300687" y="4934452"/>
                  </a:lnTo>
                  <a:lnTo>
                    <a:pt x="6260733" y="4956593"/>
                  </a:lnTo>
                  <a:lnTo>
                    <a:pt x="6217580" y="4973030"/>
                  </a:lnTo>
                  <a:lnTo>
                    <a:pt x="6171731" y="4983260"/>
                  </a:lnTo>
                  <a:lnTo>
                    <a:pt x="6123685" y="4986782"/>
                  </a:lnTo>
                  <a:lnTo>
                    <a:pt x="324993" y="4986782"/>
                  </a:lnTo>
                  <a:lnTo>
                    <a:pt x="276976" y="4983260"/>
                  </a:lnTo>
                  <a:lnTo>
                    <a:pt x="231144" y="4973030"/>
                  </a:lnTo>
                  <a:lnTo>
                    <a:pt x="188000" y="4956593"/>
                  </a:lnTo>
                  <a:lnTo>
                    <a:pt x="148047" y="4934452"/>
                  </a:lnTo>
                  <a:lnTo>
                    <a:pt x="111789" y="4907108"/>
                  </a:lnTo>
                  <a:lnTo>
                    <a:pt x="79728" y="4875065"/>
                  </a:lnTo>
                  <a:lnTo>
                    <a:pt x="52367" y="4838823"/>
                  </a:lnTo>
                  <a:lnTo>
                    <a:pt x="30211" y="4798885"/>
                  </a:lnTo>
                  <a:lnTo>
                    <a:pt x="13762" y="4755753"/>
                  </a:lnTo>
                  <a:lnTo>
                    <a:pt x="3524" y="4709929"/>
                  </a:lnTo>
                  <a:lnTo>
                    <a:pt x="0" y="4661916"/>
                  </a:lnTo>
                  <a:lnTo>
                    <a:pt x="0" y="324993"/>
                  </a:lnTo>
                  <a:close/>
                </a:path>
              </a:pathLst>
            </a:custGeom>
            <a:ln w="7620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71840" y="2156485"/>
              <a:ext cx="649960" cy="64996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78277" y="2341289"/>
              <a:ext cx="237036" cy="280173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7860030" y="2998724"/>
            <a:ext cx="5975985" cy="3579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110" b="1">
                <a:solidFill>
                  <a:srgbClr val="384652"/>
                </a:solidFill>
                <a:latin typeface="Tahoma"/>
                <a:cs typeface="Tahoma"/>
              </a:rPr>
              <a:t>4.</a:t>
            </a:r>
            <a:r>
              <a:rPr dirty="0" sz="2650" spc="-225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2650" spc="-110" b="1">
                <a:solidFill>
                  <a:srgbClr val="384652"/>
                </a:solidFill>
                <a:latin typeface="Tahoma"/>
                <a:cs typeface="Tahoma"/>
              </a:rPr>
              <a:t>Focus</a:t>
            </a:r>
            <a:r>
              <a:rPr dirty="0" sz="2650" spc="-204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2650" spc="-225" b="1">
                <a:solidFill>
                  <a:srgbClr val="384652"/>
                </a:solidFill>
                <a:latin typeface="Tahoma"/>
                <a:cs typeface="Tahoma"/>
              </a:rPr>
              <a:t>on</a:t>
            </a:r>
            <a:r>
              <a:rPr dirty="0" sz="2650" spc="-204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2650" spc="-220" b="1">
                <a:solidFill>
                  <a:srgbClr val="384652"/>
                </a:solidFill>
                <a:latin typeface="Tahoma"/>
                <a:cs typeface="Tahoma"/>
              </a:rPr>
              <a:t>High-Revenue</a:t>
            </a:r>
            <a:r>
              <a:rPr dirty="0" sz="2650" spc="-215" b="1">
                <a:solidFill>
                  <a:srgbClr val="384652"/>
                </a:solidFill>
                <a:latin typeface="Tahoma"/>
                <a:cs typeface="Tahoma"/>
              </a:rPr>
              <a:t> </a:t>
            </a:r>
            <a:r>
              <a:rPr dirty="0" sz="2650" spc="-35" b="1">
                <a:solidFill>
                  <a:srgbClr val="384652"/>
                </a:solidFill>
                <a:latin typeface="Tahoma"/>
                <a:cs typeface="Tahoma"/>
              </a:rPr>
              <a:t>Categories</a:t>
            </a:r>
            <a:endParaRPr sz="2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1700" spc="-90" b="1">
                <a:solidFill>
                  <a:srgbClr val="384652"/>
                </a:solidFill>
                <a:latin typeface="Verdana"/>
                <a:cs typeface="Verdana"/>
              </a:rPr>
              <a:t>Current:</a:t>
            </a:r>
            <a:r>
              <a:rPr dirty="0" sz="1700" spc="5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Apparel</a:t>
            </a:r>
            <a:r>
              <a:rPr dirty="0" sz="1700" spc="-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contributes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highest</a:t>
            </a:r>
            <a:r>
              <a:rPr dirty="0" sz="1700" spc="-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revenue</a:t>
            </a:r>
            <a:r>
              <a:rPr dirty="0" sz="1700" spc="-1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(26K)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followed</a:t>
            </a:r>
            <a:r>
              <a:rPr dirty="0" sz="1700" spc="-7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by</a:t>
            </a:r>
            <a:r>
              <a:rPr dirty="0" sz="170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30">
                <a:solidFill>
                  <a:srgbClr val="384652"/>
                </a:solidFill>
                <a:latin typeface="Verdana"/>
                <a:cs typeface="Verdana"/>
              </a:rPr>
              <a:t>Books,</a:t>
            </a:r>
            <a:r>
              <a:rPr dirty="0" sz="1700" spc="-3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while</a:t>
            </a:r>
            <a:r>
              <a:rPr dirty="0" sz="170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65">
                <a:solidFill>
                  <a:srgbClr val="384652"/>
                </a:solidFill>
                <a:latin typeface="Verdana"/>
                <a:cs typeface="Verdana"/>
              </a:rPr>
              <a:t>Home</a:t>
            </a:r>
            <a:r>
              <a:rPr dirty="0" sz="1700" spc="-7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generates</a:t>
            </a:r>
            <a:r>
              <a:rPr dirty="0" sz="1700" spc="-8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lowest</a:t>
            </a:r>
            <a:r>
              <a:rPr dirty="0" sz="1700" spc="-6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5">
                <a:solidFill>
                  <a:srgbClr val="384652"/>
                </a:solidFill>
                <a:latin typeface="Verdana"/>
                <a:cs typeface="Verdana"/>
              </a:rPr>
              <a:t>(22K).</a:t>
            </a:r>
            <a:endParaRPr sz="1700">
              <a:latin typeface="Verdana"/>
              <a:cs typeface="Verdana"/>
            </a:endParaRPr>
          </a:p>
          <a:p>
            <a:pPr marL="12700" marR="27940">
              <a:lnSpc>
                <a:spcPct val="132400"/>
              </a:lnSpc>
              <a:spcBef>
                <a:spcPts val="1085"/>
              </a:spcBef>
            </a:pPr>
            <a:r>
              <a:rPr dirty="0" sz="1700" spc="-75" b="1">
                <a:solidFill>
                  <a:srgbClr val="384652"/>
                </a:solidFill>
                <a:latin typeface="Verdana"/>
                <a:cs typeface="Verdana"/>
              </a:rPr>
              <a:t>Action:</a:t>
            </a:r>
            <a:r>
              <a:rPr dirty="0" sz="1700" spc="5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Marketing</a:t>
            </a:r>
            <a:r>
              <a:rPr dirty="0" sz="1700" spc="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and</a:t>
            </a:r>
            <a:r>
              <a:rPr dirty="0" sz="1700" spc="3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product</a:t>
            </a:r>
            <a:r>
              <a:rPr dirty="0" sz="1700" spc="2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teams</a:t>
            </a:r>
            <a:r>
              <a:rPr dirty="0" sz="1700" spc="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should</a:t>
            </a:r>
            <a:r>
              <a:rPr dirty="0" sz="1700" spc="3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prioritize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promotions,</a:t>
            </a:r>
            <a:r>
              <a:rPr dirty="0" sz="1700" spc="-13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bundles,</a:t>
            </a:r>
            <a:r>
              <a:rPr dirty="0" sz="1700" spc="-10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and</a:t>
            </a:r>
            <a:r>
              <a:rPr dirty="0" sz="1700" spc="-13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inventory</a:t>
            </a:r>
            <a:r>
              <a:rPr dirty="0" sz="1700" spc="-11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expansion</a:t>
            </a:r>
            <a:r>
              <a:rPr dirty="0" sz="1700" spc="-13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for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Apparel</a:t>
            </a:r>
            <a:r>
              <a:rPr dirty="0" sz="1700" spc="-1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and</a:t>
            </a:r>
            <a:r>
              <a:rPr dirty="0" sz="1700" spc="-3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35">
                <a:solidFill>
                  <a:srgbClr val="384652"/>
                </a:solidFill>
                <a:latin typeface="Verdana"/>
                <a:cs typeface="Verdana"/>
              </a:rPr>
              <a:t>Books,</a:t>
            </a:r>
            <a:r>
              <a:rPr dirty="0" sz="1700" spc="1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while</a:t>
            </a:r>
            <a:r>
              <a:rPr dirty="0" sz="1700" spc="-1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improving</a:t>
            </a:r>
            <a:r>
              <a:rPr dirty="0" sz="1700" spc="-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strategy</a:t>
            </a:r>
            <a:r>
              <a:rPr dirty="0" sz="1700" spc="-5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25">
                <a:solidFill>
                  <a:srgbClr val="384652"/>
                </a:solidFill>
                <a:latin typeface="Verdana"/>
                <a:cs typeface="Verdana"/>
              </a:rPr>
              <a:t>for </a:t>
            </a:r>
            <a:r>
              <a:rPr dirty="0" sz="1700" spc="10">
                <a:solidFill>
                  <a:srgbClr val="384652"/>
                </a:solidFill>
                <a:latin typeface="Verdana"/>
                <a:cs typeface="Verdana"/>
              </a:rPr>
              <a:t>underperforming</a:t>
            </a:r>
            <a:r>
              <a:rPr dirty="0" sz="1700" spc="19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categories.</a:t>
            </a:r>
            <a:endParaRPr sz="1700">
              <a:latin typeface="Verdana"/>
              <a:cs typeface="Verdana"/>
            </a:endParaRPr>
          </a:p>
          <a:p>
            <a:pPr marL="12700" marR="355600">
              <a:lnSpc>
                <a:spcPct val="132400"/>
              </a:lnSpc>
              <a:spcBef>
                <a:spcPts val="1145"/>
              </a:spcBef>
            </a:pPr>
            <a:r>
              <a:rPr dirty="0" sz="1700" spc="-50" b="1">
                <a:solidFill>
                  <a:srgbClr val="384652"/>
                </a:solidFill>
                <a:latin typeface="Verdana"/>
                <a:cs typeface="Verdana"/>
              </a:rPr>
              <a:t>Expected</a:t>
            </a:r>
            <a:r>
              <a:rPr dirty="0" sz="1700" spc="15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14" b="1">
                <a:solidFill>
                  <a:srgbClr val="384652"/>
                </a:solidFill>
                <a:latin typeface="Verdana"/>
                <a:cs typeface="Verdana"/>
              </a:rPr>
              <a:t>Impact:</a:t>
            </a:r>
            <a:r>
              <a:rPr dirty="0" sz="1700" b="1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Maximized</a:t>
            </a:r>
            <a:r>
              <a:rPr dirty="0" sz="1700" spc="-60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revenue</a:t>
            </a:r>
            <a:r>
              <a:rPr dirty="0" sz="1700" spc="-1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growth</a:t>
            </a:r>
            <a:r>
              <a:rPr dirty="0" sz="1700" spc="-20">
                <a:solidFill>
                  <a:srgbClr val="384652"/>
                </a:solidFill>
                <a:latin typeface="Verdana"/>
                <a:cs typeface="Verdana"/>
              </a:rPr>
              <a:t> from </a:t>
            </a:r>
            <a:r>
              <a:rPr dirty="0" sz="1700">
                <a:solidFill>
                  <a:srgbClr val="384652"/>
                </a:solidFill>
                <a:latin typeface="Verdana"/>
                <a:cs typeface="Verdana"/>
              </a:rPr>
              <a:t>high-performing</a:t>
            </a:r>
            <a:r>
              <a:rPr dirty="0" sz="1700" spc="185">
                <a:solidFill>
                  <a:srgbClr val="384652"/>
                </a:solidFill>
                <a:latin typeface="Verdana"/>
                <a:cs typeface="Verdana"/>
              </a:rPr>
              <a:t> </a:t>
            </a:r>
            <a:r>
              <a:rPr dirty="0" sz="1700" spc="-10">
                <a:solidFill>
                  <a:srgbClr val="384652"/>
                </a:solidFill>
                <a:latin typeface="Verdana"/>
                <a:cs typeface="Verdana"/>
              </a:rPr>
              <a:t>segments.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0" y="0"/>
            <a:ext cx="14624050" cy="7798434"/>
            <a:chOff x="0" y="0"/>
            <a:chExt cx="14624050" cy="7798434"/>
          </a:xfrm>
        </p:grpSpPr>
        <p:sp>
          <p:nvSpPr>
            <p:cNvPr id="17" name="object 17" descr=""/>
            <p:cNvSpPr/>
            <p:nvPr/>
          </p:nvSpPr>
          <p:spPr>
            <a:xfrm>
              <a:off x="6350" y="6350"/>
              <a:ext cx="14611350" cy="7785734"/>
            </a:xfrm>
            <a:custGeom>
              <a:avLst/>
              <a:gdLst/>
              <a:ahLst/>
              <a:cxnLst/>
              <a:rect l="l" t="t" r="r" b="b"/>
              <a:pathLst>
                <a:path w="14611350" h="7785734">
                  <a:moveTo>
                    <a:pt x="14611350" y="0"/>
                  </a:moveTo>
                  <a:lnTo>
                    <a:pt x="0" y="0"/>
                  </a:lnTo>
                  <a:lnTo>
                    <a:pt x="0" y="7785709"/>
                  </a:lnTo>
                  <a:lnTo>
                    <a:pt x="14611350" y="7785709"/>
                  </a:lnTo>
                  <a:lnTo>
                    <a:pt x="14611350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350" y="6350"/>
              <a:ext cx="14611350" cy="7785734"/>
            </a:xfrm>
            <a:custGeom>
              <a:avLst/>
              <a:gdLst/>
              <a:ahLst/>
              <a:cxnLst/>
              <a:rect l="l" t="t" r="r" b="b"/>
              <a:pathLst>
                <a:path w="14611350" h="7785734">
                  <a:moveTo>
                    <a:pt x="0" y="7785709"/>
                  </a:moveTo>
                  <a:lnTo>
                    <a:pt x="14611350" y="7785709"/>
                  </a:lnTo>
                  <a:lnTo>
                    <a:pt x="14611350" y="0"/>
                  </a:lnTo>
                  <a:lnTo>
                    <a:pt x="0" y="0"/>
                  </a:lnTo>
                  <a:lnTo>
                    <a:pt x="0" y="7785709"/>
                  </a:lnTo>
                  <a:close/>
                </a:path>
              </a:pathLst>
            </a:custGeom>
            <a:ln w="12700">
              <a:solidFill>
                <a:srgbClr val="00A5E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Srimathy S.</dc:creator>
  <dcterms:created xsi:type="dcterms:W3CDTF">2026-04-10T10:01:49Z</dcterms:created>
  <dcterms:modified xsi:type="dcterms:W3CDTF">2026-04-10T10:01:49Z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2026-04-10T00:00:00Z</vt:filetime>
  </property>
  <property fmtid="{D5CDD505-2E9C-101B-9397-08002B2CF9AE}" pid="5" name="Producer">
    <vt:lpwstr>Microsoft® PowerPoint® for Microsoft 365</vt:lpwstr>
  </property>
</Properties>
</file>